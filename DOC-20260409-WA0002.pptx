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57" r:id="rId3"/>
    <p:sldId id="258" r:id="rId4"/>
    <p:sldId id="260" r:id="rId5"/>
    <p:sldId id="292" r:id="rId6"/>
    <p:sldId id="259" r:id="rId7"/>
    <p:sldId id="261" r:id="rId8"/>
  </p:sldIdLst>
  <p:sldSz cx="12192000" cy="6858000"/>
  <p:notesSz cx="6858000" cy="9144000"/>
  <p:embeddedFontLst>
    <p:embeddedFont>
      <p:font typeface="Aharoni" panose="02010803020104030203" pitchFamily="2" charset="-79"/>
      <p:bold r:id="rId10"/>
    </p:embeddedFont>
    <p:embeddedFont>
      <p:font typeface="Akshar Unicode" panose="020B0604020202020204" charset="0"/>
      <p:regular r:id="rId11"/>
    </p:embeddedFont>
    <p:embeddedFont>
      <p:font typeface="Berlin Sans FB Demi" panose="020E0802020502020306" pitchFamily="34" charset="0"/>
      <p:bold r:id="rId12"/>
    </p:embeddedFont>
    <p:embeddedFont>
      <p:font typeface="Franklin Gothic Demi" panose="020B0703020102020204" pitchFamily="34" charset="0"/>
      <p:regular r:id="rId13"/>
      <p:italic r:id="rId14"/>
    </p:embeddedFont>
    <p:embeddedFont>
      <p:font typeface="Franklin Gothic Demi Cond" panose="020B0706030402020204" pitchFamily="34" charset="0"/>
      <p:regular r:id="rId15"/>
    </p:embeddedFont>
    <p:embeddedFont>
      <p:font typeface="GFF Devanagari W05 Medium" panose="020B0604020202020204" charset="0"/>
      <p:regular r:id="rId16"/>
    </p:embeddedFont>
    <p:embeddedFont>
      <p:font typeface="GFF Latin W05 Bold" panose="020B0604020202020204" charset="0"/>
      <p:bold r:id="rId17"/>
    </p:embeddedFont>
    <p:embeddedFont>
      <p:font typeface="Oswald" panose="00000500000000000000" pitchFamily="2" charset="0"/>
      <p:regular r:id="rId18"/>
      <p:bold r:id="rId19"/>
    </p:embeddedFont>
    <p:embeddedFont>
      <p:font typeface="Segoe UI Black" panose="020B0A02040204020203" pitchFamily="34" charset="0"/>
      <p:bold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6" roundtripDataSignature="AMtx7mhxoD2KpHHazB0N56h5bZBI+pzW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4D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9" y="43"/>
      </p:cViewPr>
      <p:guideLst>
        <p:guide orient="horz" pos="21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87A56BAD-F77D-B564-E7E4-6B0C2116D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A855C176-47F6-72E3-39F0-891019917A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3" name="Google Shape;143;p5:notes">
            <a:extLst>
              <a:ext uri="{FF2B5EF4-FFF2-40B4-BE49-F238E27FC236}">
                <a16:creationId xmlns:a16="http://schemas.microsoft.com/office/drawing/2014/main" id="{CB4CB442-95DE-BCBE-638A-D01A60E473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>
            <a:extLst>
              <a:ext uri="{FF2B5EF4-FFF2-40B4-BE49-F238E27FC236}">
                <a16:creationId xmlns:a16="http://schemas.microsoft.com/office/drawing/2014/main" id="{27C5A38C-8A26-A957-B14F-F90275704A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4030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45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6.jp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.png"/><Relationship Id="rId5" Type="http://schemas.openxmlformats.org/officeDocument/2006/relationships/image" Target="../media/image5.png"/><Relationship Id="rId10" Type="http://schemas.openxmlformats.org/officeDocument/2006/relationships/image" Target="../media/image7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.png"/><Relationship Id="rId5" Type="http://schemas.openxmlformats.org/officeDocument/2006/relationships/image" Target="../media/image19.jfif"/><Relationship Id="rId10" Type="http://schemas.openxmlformats.org/officeDocument/2006/relationships/image" Target="../media/image14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flaticon.com/" TargetMode="External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inecone.com/" TargetMode="External"/><Relationship Id="rId5" Type="http://schemas.openxmlformats.org/officeDocument/2006/relationships/hyperlink" Target="https://flaticon/.com/" TargetMode="External"/><Relationship Id="rId4" Type="http://schemas.openxmlformats.org/officeDocument/2006/relationships/hyperlink" Target="https://firebase.com/console" TargetMode="External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158A39-0367-42B5-4D41-8D92D4EFB0B4}"/>
              </a:ext>
            </a:extLst>
          </p:cNvPr>
          <p:cNvSpPr/>
          <p:nvPr/>
        </p:nvSpPr>
        <p:spPr>
          <a:xfrm>
            <a:off x="1287121" y="1424692"/>
            <a:ext cx="9617757" cy="5188099"/>
          </a:xfrm>
          <a:prstGeom prst="roundRect">
            <a:avLst>
              <a:gd name="adj" fmla="val 1774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-297101" y="165734"/>
            <a:ext cx="10022682" cy="903316"/>
          </a:xfrm>
        </p:spPr>
        <p:txBody>
          <a:bodyPr/>
          <a:lstStyle/>
          <a:p>
            <a:r>
              <a:rPr lang="en-US" sz="4800" b="1" dirty="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HACK THE BEGINNING 2026</a:t>
            </a:r>
            <a:endParaRPr lang="en-IN" sz="4800" b="1" dirty="0">
              <a:solidFill>
                <a:srgbClr val="00B0F0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F81A53-BF34-07D4-F247-8EE766B222F1}"/>
              </a:ext>
            </a:extLst>
          </p:cNvPr>
          <p:cNvSpPr txBox="1"/>
          <p:nvPr/>
        </p:nvSpPr>
        <p:spPr>
          <a:xfrm>
            <a:off x="2022380" y="4463246"/>
            <a:ext cx="5962855" cy="587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GFF Devanagari W05 Medium" pitchFamily="2" charset="0"/>
                <a:ea typeface="GFF Devanagari W05 Medium" pitchFamily="2" charset="0"/>
                <a:cs typeface="GFF Devanagari W05 Medium" pitchFamily="2" charset="0"/>
              </a:rPr>
              <a:t>AI-Powered Incubation Document Automation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942BF0-3210-2EC6-D055-C7D9687C47EB}"/>
              </a:ext>
            </a:extLst>
          </p:cNvPr>
          <p:cNvSpPr txBox="1"/>
          <p:nvPr/>
        </p:nvSpPr>
        <p:spPr>
          <a:xfrm>
            <a:off x="2757725" y="2929353"/>
            <a:ext cx="6617589" cy="587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  <a:latin typeface="GFF Devanagari W05 Medium" pitchFamily="2" charset="0"/>
                <a:ea typeface="GFF Devanagari W05 Medium" pitchFamily="2" charset="0"/>
                <a:cs typeface="GFF Devanagari W05 Medium" pitchFamily="2" charset="0"/>
              </a:rPr>
              <a:t>TEAM </a:t>
            </a:r>
            <a:r>
              <a:rPr lang="en-US" sz="2400" b="1" dirty="0" err="1">
                <a:solidFill>
                  <a:srgbClr val="002060"/>
                </a:solidFill>
                <a:latin typeface="GFF Devanagari W05 Medium" pitchFamily="2" charset="0"/>
                <a:ea typeface="GFF Devanagari W05 Medium" pitchFamily="2" charset="0"/>
                <a:cs typeface="GFF Devanagari W05 Medium" pitchFamily="2" charset="0"/>
              </a:rPr>
              <a:t>IncuFlow</a:t>
            </a:r>
            <a:endParaRPr lang="en-US" sz="2400" b="1" dirty="0">
              <a:solidFill>
                <a:srgbClr val="002060"/>
              </a:solidFill>
              <a:latin typeface="GFF Devanagari W05 Medium" pitchFamily="2" charset="0"/>
              <a:ea typeface="GFF Devanagari W05 Medium" pitchFamily="2" charset="0"/>
              <a:cs typeface="GFF Devanagari W05 Medium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B6BBDC-6A69-CCC6-5D58-2C9156DECA31}"/>
              </a:ext>
            </a:extLst>
          </p:cNvPr>
          <p:cNvSpPr/>
          <p:nvPr/>
        </p:nvSpPr>
        <p:spPr>
          <a:xfrm>
            <a:off x="1519919" y="1703833"/>
            <a:ext cx="9093200" cy="470407"/>
          </a:xfrm>
          <a:prstGeom prst="roundRect">
            <a:avLst>
              <a:gd name="adj" fmla="val 11468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B4B5BE-4FF2-2BCB-0EC4-DEC64E1E03C5}"/>
              </a:ext>
            </a:extLst>
          </p:cNvPr>
          <p:cNvSpPr txBox="1"/>
          <p:nvPr/>
        </p:nvSpPr>
        <p:spPr>
          <a:xfrm>
            <a:off x="2787204" y="1564363"/>
            <a:ext cx="6617589" cy="587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latin typeface="GFF Devanagari W05 Medium" pitchFamily="2" charset="0"/>
                <a:ea typeface="GFF Devanagari W05 Medium" pitchFamily="2" charset="0"/>
                <a:cs typeface="GFF Devanagari W05 Medium" pitchFamily="2" charset="0"/>
              </a:rPr>
              <a:t>I N F O R A M T I O 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B2A531-AAC2-96CE-7FBD-92F0E4D6D252}"/>
              </a:ext>
            </a:extLst>
          </p:cNvPr>
          <p:cNvSpPr/>
          <p:nvPr/>
        </p:nvSpPr>
        <p:spPr>
          <a:xfrm>
            <a:off x="1519919" y="2890977"/>
            <a:ext cx="9093200" cy="898703"/>
          </a:xfrm>
          <a:prstGeom prst="roundRect">
            <a:avLst>
              <a:gd name="adj" fmla="val 11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59E83F-C8C7-2531-3340-1E0903063D96}"/>
              </a:ext>
            </a:extLst>
          </p:cNvPr>
          <p:cNvSpPr/>
          <p:nvPr/>
        </p:nvSpPr>
        <p:spPr>
          <a:xfrm>
            <a:off x="1621519" y="3015390"/>
            <a:ext cx="4057921" cy="665523"/>
          </a:xfrm>
          <a:prstGeom prst="roundRect">
            <a:avLst>
              <a:gd name="adj" fmla="val 1146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68AA56-1BE4-F0F9-5F4E-6658FCFC37F1}"/>
              </a:ext>
            </a:extLst>
          </p:cNvPr>
          <p:cNvSpPr txBox="1"/>
          <p:nvPr/>
        </p:nvSpPr>
        <p:spPr>
          <a:xfrm>
            <a:off x="2757725" y="2974925"/>
            <a:ext cx="174315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Franklin Gothic Demi Cond" panose="020B0706030402020204" pitchFamily="34" charset="0"/>
                <a:ea typeface="GFF Devanagari W05 Medium" pitchFamily="2" charset="0"/>
                <a:cs typeface="Aharoni" panose="02010803020104030203" pitchFamily="2" charset="-79"/>
              </a:rPr>
              <a:t>TEAM NAME 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C20B5D-64D6-39CB-A907-74B51B18E4A6}"/>
              </a:ext>
            </a:extLst>
          </p:cNvPr>
          <p:cNvSpPr txBox="1"/>
          <p:nvPr/>
        </p:nvSpPr>
        <p:spPr>
          <a:xfrm>
            <a:off x="2022380" y="5741781"/>
            <a:ext cx="5962855" cy="587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GFF Devanagari W05 Medium" pitchFamily="2" charset="0"/>
                <a:ea typeface="GFF Devanagari W05 Medium" pitchFamily="2" charset="0"/>
                <a:cs typeface="GFF Devanagari W05 Medium" pitchFamily="2" charset="0"/>
              </a:rPr>
              <a:t>AI-Powered Incubation Document Automation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84345D-56AE-257E-4669-9562E57CBDCE}"/>
              </a:ext>
            </a:extLst>
          </p:cNvPr>
          <p:cNvSpPr/>
          <p:nvPr/>
        </p:nvSpPr>
        <p:spPr>
          <a:xfrm>
            <a:off x="1519919" y="4169512"/>
            <a:ext cx="9093200" cy="898703"/>
          </a:xfrm>
          <a:prstGeom prst="roundRect">
            <a:avLst>
              <a:gd name="adj" fmla="val 11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E41464A-BD67-729E-DAAB-415D640D52A9}"/>
              </a:ext>
            </a:extLst>
          </p:cNvPr>
          <p:cNvSpPr/>
          <p:nvPr/>
        </p:nvSpPr>
        <p:spPr>
          <a:xfrm>
            <a:off x="1621519" y="4293925"/>
            <a:ext cx="4057921" cy="665523"/>
          </a:xfrm>
          <a:prstGeom prst="roundRect">
            <a:avLst>
              <a:gd name="adj" fmla="val 1146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3E18BC-6D4C-D14A-A284-E908E3CDFCF0}"/>
              </a:ext>
            </a:extLst>
          </p:cNvPr>
          <p:cNvSpPr txBox="1"/>
          <p:nvPr/>
        </p:nvSpPr>
        <p:spPr>
          <a:xfrm>
            <a:off x="2189621" y="4265423"/>
            <a:ext cx="2921715" cy="57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Franklin Gothic Demi Cond" panose="020B0706030402020204" pitchFamily="34" charset="0"/>
                <a:ea typeface="GFF Devanagari W05 Medium" pitchFamily="2" charset="0"/>
                <a:cs typeface="Aharoni" panose="02010803020104030203" pitchFamily="2" charset="-79"/>
              </a:rPr>
              <a:t>PROBLEM STATEMENT :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C8596C-8D13-3AF4-F61F-AD22B2E05D38}"/>
              </a:ext>
            </a:extLst>
          </p:cNvPr>
          <p:cNvSpPr txBox="1"/>
          <p:nvPr/>
        </p:nvSpPr>
        <p:spPr>
          <a:xfrm>
            <a:off x="5854357" y="4283848"/>
            <a:ext cx="5640947" cy="497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Franklin Gothic Demi Cond" panose="020B0706030402020204" pitchFamily="34" charset="0"/>
                <a:ea typeface="GFF Devanagari W05 Medium" pitchFamily="2" charset="0"/>
                <a:cs typeface="Aharoni" panose="02010803020104030203" pitchFamily="2" charset="-79"/>
              </a:rPr>
              <a:t>AI-Powered Incubation Document Automation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E6512E-A471-1063-BF71-DACD66AF77D1}"/>
              </a:ext>
            </a:extLst>
          </p:cNvPr>
          <p:cNvSpPr txBox="1"/>
          <p:nvPr/>
        </p:nvSpPr>
        <p:spPr>
          <a:xfrm>
            <a:off x="2022380" y="6979042"/>
            <a:ext cx="5962855" cy="587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GFF Devanagari W05 Medium" pitchFamily="2" charset="0"/>
                <a:ea typeface="GFF Devanagari W05 Medium" pitchFamily="2" charset="0"/>
                <a:cs typeface="GFF Devanagari W05 Medium" pitchFamily="2" charset="0"/>
              </a:rPr>
              <a:t>AI-Powered Incubation Document Automation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2E7CE55-6081-8150-F338-61F302A22C90}"/>
              </a:ext>
            </a:extLst>
          </p:cNvPr>
          <p:cNvSpPr/>
          <p:nvPr/>
        </p:nvSpPr>
        <p:spPr>
          <a:xfrm>
            <a:off x="1519919" y="5406773"/>
            <a:ext cx="9093200" cy="898703"/>
          </a:xfrm>
          <a:prstGeom prst="roundRect">
            <a:avLst>
              <a:gd name="adj" fmla="val 1146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B6F5F6B-DBB1-757B-EF58-C6D0E4030779}"/>
              </a:ext>
            </a:extLst>
          </p:cNvPr>
          <p:cNvSpPr/>
          <p:nvPr/>
        </p:nvSpPr>
        <p:spPr>
          <a:xfrm>
            <a:off x="1621519" y="5531186"/>
            <a:ext cx="4057921" cy="665523"/>
          </a:xfrm>
          <a:prstGeom prst="roundRect">
            <a:avLst>
              <a:gd name="adj" fmla="val 1146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C3944B-7C78-5CEA-A2FD-2CDD8A75C48C}"/>
              </a:ext>
            </a:extLst>
          </p:cNvPr>
          <p:cNvSpPr txBox="1"/>
          <p:nvPr/>
        </p:nvSpPr>
        <p:spPr>
          <a:xfrm>
            <a:off x="2892330" y="5489343"/>
            <a:ext cx="174315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Franklin Gothic Demi Cond" panose="020B0706030402020204" pitchFamily="34" charset="0"/>
                <a:ea typeface="GFF Devanagari W05 Medium" pitchFamily="2" charset="0"/>
                <a:cs typeface="Aharoni" panose="02010803020104030203" pitchFamily="2" charset="-79"/>
              </a:rPr>
              <a:t>MEMBERS :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A61522-1935-BA66-E4AB-29A4215CD5DD}"/>
              </a:ext>
            </a:extLst>
          </p:cNvPr>
          <p:cNvSpPr txBox="1"/>
          <p:nvPr/>
        </p:nvSpPr>
        <p:spPr>
          <a:xfrm>
            <a:off x="6205448" y="5562930"/>
            <a:ext cx="4980919" cy="497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Franklin Gothic Demi Cond" panose="020B0706030402020204" pitchFamily="34" charset="0"/>
                <a:ea typeface="GFF Devanagari W05 Medium" pitchFamily="2" charset="0"/>
                <a:cs typeface="Aharoni" panose="02010803020104030203" pitchFamily="2" charset="-79"/>
              </a:rPr>
              <a:t>Aryan, Love Chauhan, Farhan Farooque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F863394-AA15-F929-2823-603711053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216"/>
          <a:stretch>
            <a:fillRect/>
          </a:stretch>
        </p:blipFill>
        <p:spPr>
          <a:xfrm>
            <a:off x="6672524" y="2971607"/>
            <a:ext cx="2823872" cy="60016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6432A88-671E-D783-D018-F726E9D3D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8560" y="191060"/>
            <a:ext cx="1950720" cy="8360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C30510B-EDCE-CA15-F314-41952F41A029}"/>
              </a:ext>
            </a:extLst>
          </p:cNvPr>
          <p:cNvSpPr/>
          <p:nvPr/>
        </p:nvSpPr>
        <p:spPr>
          <a:xfrm>
            <a:off x="291410" y="4631570"/>
            <a:ext cx="5780437" cy="2001181"/>
          </a:xfrm>
          <a:prstGeom prst="roundRect">
            <a:avLst>
              <a:gd name="adj" fmla="val 419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Google Shape;110;p2"/>
          <p:cNvSpPr/>
          <p:nvPr/>
        </p:nvSpPr>
        <p:spPr>
          <a:xfrm>
            <a:off x="167660" y="1096262"/>
            <a:ext cx="6035029" cy="5625215"/>
          </a:xfrm>
          <a:prstGeom prst="roundRect">
            <a:avLst>
              <a:gd name="adj" fmla="val 3157"/>
            </a:avLst>
          </a:prstGeom>
          <a:solidFill>
            <a:srgbClr val="00B0F0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572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2000" dirty="0">
                <a:solidFill>
                  <a:schemeClr val="bg1"/>
                </a:solidFill>
                <a:latin typeface="Berlin Sans FB Demi" panose="020E0802020502020306" pitchFamily="34" charset="0"/>
                <a:ea typeface="Libre Franklin Medium"/>
                <a:cs typeface="Libre Franklin Medium"/>
                <a:sym typeface="Libre Franklin Medium"/>
              </a:rPr>
              <a:t>   </a:t>
            </a:r>
            <a:r>
              <a:rPr lang="en-US" sz="2000" dirty="0" err="1">
                <a:solidFill>
                  <a:schemeClr val="bg1"/>
                </a:solidFill>
                <a:latin typeface="Berlin Sans FB Demi" panose="020E0802020502020306" pitchFamily="34" charset="0"/>
                <a:ea typeface="Libre Franklin Medium"/>
                <a:cs typeface="Libre Franklin Medium"/>
                <a:sym typeface="Libre Franklin Medium"/>
              </a:rPr>
              <a:t>KairoDocs</a:t>
            </a:r>
            <a:r>
              <a:rPr lang="en-US" sz="2000" dirty="0">
                <a:solidFill>
                  <a:schemeClr val="bg1"/>
                </a:solidFill>
                <a:latin typeface="Berlin Sans FB Demi" panose="020E0802020502020306" pitchFamily="34" charset="0"/>
                <a:ea typeface="Libre Franklin Medium"/>
                <a:cs typeface="Libre Franklin Medium"/>
                <a:sym typeface="Libre Franklin Medium"/>
              </a:rPr>
              <a:t> Web App Workflow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8B5EE71-0BD1-FA24-26D5-FDD7B5B0DB9D}"/>
              </a:ext>
            </a:extLst>
          </p:cNvPr>
          <p:cNvSpPr/>
          <p:nvPr/>
        </p:nvSpPr>
        <p:spPr>
          <a:xfrm>
            <a:off x="291410" y="1659834"/>
            <a:ext cx="5780438" cy="4899991"/>
          </a:xfrm>
          <a:prstGeom prst="roundRect">
            <a:avLst>
              <a:gd name="adj" fmla="val 419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650458" y="-75479"/>
            <a:ext cx="10972800" cy="937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INTRODUCING </a:t>
            </a:r>
            <a:r>
              <a:rPr lang="en-US" sz="3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KairoDocs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209691" y="1870951"/>
            <a:ext cx="591046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sz="1800" dirty="0">
                <a:solidFill>
                  <a:srgbClr val="000000"/>
                </a:solidFill>
                <a:latin typeface="Franklin Gothic Demi" panose="020B0703020102020204" pitchFamily="34" charset="0"/>
                <a:ea typeface="Calibri"/>
                <a:cs typeface="Calibri"/>
                <a:sym typeface="Calibri"/>
              </a:rPr>
              <a:t>USER UPLOADS RANDOM FORMATTED DOCUMENT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09C2351-EF7E-BF8E-EE24-86BB7BA1A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3320" y="5074996"/>
            <a:ext cx="1053595" cy="1053595"/>
          </a:xfrm>
          <a:prstGeom prst="rect">
            <a:avLst/>
          </a:prstGeom>
          <a:effectLst>
            <a:outerShdw blurRad="304800" dist="38100" dir="2700000" sx="101000" sy="101000" algn="tl" rotWithShape="0">
              <a:prstClr val="black">
                <a:alpha val="40000"/>
              </a:prstClr>
            </a:outerShdw>
          </a:effectLst>
        </p:spPr>
      </p:pic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68585F8C-45F2-9C81-2ED6-0F8CEAE8F4DC}"/>
              </a:ext>
            </a:extLst>
          </p:cNvPr>
          <p:cNvSpPr/>
          <p:nvPr/>
        </p:nvSpPr>
        <p:spPr>
          <a:xfrm rot="5400000">
            <a:off x="10975970" y="1888939"/>
            <a:ext cx="307777" cy="1788958"/>
          </a:xfrm>
          <a:prstGeom prst="round2Same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C675D3B4-65B7-9742-9C94-786D5B520BA0}"/>
              </a:ext>
            </a:extLst>
          </p:cNvPr>
          <p:cNvSpPr/>
          <p:nvPr/>
        </p:nvSpPr>
        <p:spPr>
          <a:xfrm rot="16200000">
            <a:off x="7266312" y="1888939"/>
            <a:ext cx="307777" cy="1788958"/>
          </a:xfrm>
          <a:prstGeom prst="round2Same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23F7772-99B1-9EBB-A5A5-F697CBF423F7}"/>
              </a:ext>
            </a:extLst>
          </p:cNvPr>
          <p:cNvSpPr/>
          <p:nvPr/>
        </p:nvSpPr>
        <p:spPr>
          <a:xfrm rot="5400000">
            <a:off x="9122616" y="1851089"/>
            <a:ext cx="307779" cy="18646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B3550F-5359-5856-C9F3-B76F0180BAE0}"/>
              </a:ext>
            </a:extLst>
          </p:cNvPr>
          <p:cNvSpPr txBox="1"/>
          <p:nvPr/>
        </p:nvSpPr>
        <p:spPr>
          <a:xfrm>
            <a:off x="6525720" y="2639468"/>
            <a:ext cx="17889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kshar Unicode" panose="00000400000000000000" pitchFamily="2" charset="0"/>
                <a:cs typeface="Akshar Unicode" panose="00000400000000000000" pitchFamily="2" charset="0"/>
              </a:rPr>
              <a:t>GENERATE DOCS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8AB2FD-83D6-173F-5A76-800C9C757BAD}"/>
              </a:ext>
            </a:extLst>
          </p:cNvPr>
          <p:cNvSpPr txBox="1"/>
          <p:nvPr/>
        </p:nvSpPr>
        <p:spPr>
          <a:xfrm>
            <a:off x="8185890" y="2638711"/>
            <a:ext cx="21604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kshar Unicode" panose="00000400000000000000" pitchFamily="2" charset="0"/>
                <a:cs typeface="Akshar Unicode" panose="00000400000000000000" pitchFamily="2" charset="0"/>
              </a:rPr>
              <a:t>AI POWERED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2382AE-4579-F786-84E7-B909C9EE2A24}"/>
              </a:ext>
            </a:extLst>
          </p:cNvPr>
          <p:cNvSpPr txBox="1"/>
          <p:nvPr/>
        </p:nvSpPr>
        <p:spPr>
          <a:xfrm>
            <a:off x="10049629" y="2658589"/>
            <a:ext cx="21604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kshar Unicode" panose="00000400000000000000" pitchFamily="2" charset="0"/>
                <a:cs typeface="Akshar Unicode" panose="00000400000000000000" pitchFamily="2" charset="0"/>
              </a:rPr>
              <a:t>PERSONAL DASHBORD</a:t>
            </a:r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1D48B55A-9F88-3FB7-7492-2980F6142298}"/>
              </a:ext>
            </a:extLst>
          </p:cNvPr>
          <p:cNvSpPr/>
          <p:nvPr/>
        </p:nvSpPr>
        <p:spPr>
          <a:xfrm rot="5400000">
            <a:off x="10975969" y="3727909"/>
            <a:ext cx="307777" cy="1788958"/>
          </a:xfrm>
          <a:prstGeom prst="round2Same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: Top Corners Rounded 49">
            <a:extLst>
              <a:ext uri="{FF2B5EF4-FFF2-40B4-BE49-F238E27FC236}">
                <a16:creationId xmlns:a16="http://schemas.microsoft.com/office/drawing/2014/main" id="{5FCB421C-A05C-7D98-F9B7-6E867611F103}"/>
              </a:ext>
            </a:extLst>
          </p:cNvPr>
          <p:cNvSpPr/>
          <p:nvPr/>
        </p:nvSpPr>
        <p:spPr>
          <a:xfrm rot="16200000">
            <a:off x="7266311" y="3727909"/>
            <a:ext cx="307777" cy="1788958"/>
          </a:xfrm>
          <a:prstGeom prst="round2Same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148B545-3FED-8F4D-BBE0-BFADC69B9563}"/>
              </a:ext>
            </a:extLst>
          </p:cNvPr>
          <p:cNvSpPr/>
          <p:nvPr/>
        </p:nvSpPr>
        <p:spPr>
          <a:xfrm rot="5400000">
            <a:off x="9122615" y="3690059"/>
            <a:ext cx="307779" cy="18646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0704E1-1F44-17B1-352E-E8B3EFEA3DD3}"/>
              </a:ext>
            </a:extLst>
          </p:cNvPr>
          <p:cNvSpPr txBox="1"/>
          <p:nvPr/>
        </p:nvSpPr>
        <p:spPr>
          <a:xfrm>
            <a:off x="6593612" y="4507324"/>
            <a:ext cx="1693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kshar Unicode" panose="00000400000000000000" pitchFamily="2" charset="0"/>
                <a:cs typeface="Akshar Unicode" panose="00000400000000000000" pitchFamily="2" charset="0"/>
              </a:rPr>
              <a:t>SAFE DAYTABASE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242B0C-9287-E255-0249-A47FB2391A61}"/>
              </a:ext>
            </a:extLst>
          </p:cNvPr>
          <p:cNvSpPr txBox="1"/>
          <p:nvPr/>
        </p:nvSpPr>
        <p:spPr>
          <a:xfrm>
            <a:off x="8185889" y="4477681"/>
            <a:ext cx="21604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kshar Unicode" panose="00000400000000000000" pitchFamily="2" charset="0"/>
                <a:cs typeface="Akshar Unicode" panose="00000400000000000000" pitchFamily="2" charset="0"/>
              </a:rPr>
              <a:t>VERSION CONTROL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01911C-21BA-D8F1-BAFD-48043076595D}"/>
              </a:ext>
            </a:extLst>
          </p:cNvPr>
          <p:cNvSpPr txBox="1"/>
          <p:nvPr/>
        </p:nvSpPr>
        <p:spPr>
          <a:xfrm>
            <a:off x="10049628" y="4477681"/>
            <a:ext cx="21604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kshar Unicode" panose="00000400000000000000" pitchFamily="2" charset="0"/>
                <a:cs typeface="Akshar Unicode" panose="00000400000000000000" pitchFamily="2" charset="0"/>
              </a:rPr>
              <a:t>EASY RE-EDIT</a:t>
            </a:r>
          </a:p>
        </p:txBody>
      </p:sp>
      <p:sp>
        <p:nvSpPr>
          <p:cNvPr id="55" name="Rectangle: Top Corners Rounded 54">
            <a:extLst>
              <a:ext uri="{FF2B5EF4-FFF2-40B4-BE49-F238E27FC236}">
                <a16:creationId xmlns:a16="http://schemas.microsoft.com/office/drawing/2014/main" id="{60B6401F-3A82-F271-2E82-CFBCF030B7DE}"/>
              </a:ext>
            </a:extLst>
          </p:cNvPr>
          <p:cNvSpPr/>
          <p:nvPr/>
        </p:nvSpPr>
        <p:spPr>
          <a:xfrm rot="5400000">
            <a:off x="10975969" y="5594693"/>
            <a:ext cx="307777" cy="1788958"/>
          </a:xfrm>
          <a:prstGeom prst="round2Same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Top Corners Rounded 55">
            <a:extLst>
              <a:ext uri="{FF2B5EF4-FFF2-40B4-BE49-F238E27FC236}">
                <a16:creationId xmlns:a16="http://schemas.microsoft.com/office/drawing/2014/main" id="{C27F9917-4301-B488-242D-2AE71D2BED3B}"/>
              </a:ext>
            </a:extLst>
          </p:cNvPr>
          <p:cNvSpPr/>
          <p:nvPr/>
        </p:nvSpPr>
        <p:spPr>
          <a:xfrm rot="16200000">
            <a:off x="7266311" y="5594693"/>
            <a:ext cx="307777" cy="1788958"/>
          </a:xfrm>
          <a:prstGeom prst="round2Same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2B053E9-BE7C-C582-3A44-91B73CD47213}"/>
              </a:ext>
            </a:extLst>
          </p:cNvPr>
          <p:cNvSpPr/>
          <p:nvPr/>
        </p:nvSpPr>
        <p:spPr>
          <a:xfrm rot="5400000">
            <a:off x="9122615" y="5556843"/>
            <a:ext cx="307779" cy="18646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68B707-8443-3E79-DA4C-2544B6F389C7}"/>
              </a:ext>
            </a:extLst>
          </p:cNvPr>
          <p:cNvSpPr txBox="1"/>
          <p:nvPr/>
        </p:nvSpPr>
        <p:spPr>
          <a:xfrm>
            <a:off x="6401185" y="6334026"/>
            <a:ext cx="20540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kshar Unicode" panose="00000400000000000000" pitchFamily="2" charset="0"/>
                <a:cs typeface="Akshar Unicode" panose="00000400000000000000" pitchFamily="2" charset="0"/>
              </a:rPr>
              <a:t>TEMPLATES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C1668EC-BBB7-EFB8-02F3-8828588F421E}"/>
              </a:ext>
            </a:extLst>
          </p:cNvPr>
          <p:cNvSpPr txBox="1"/>
          <p:nvPr/>
        </p:nvSpPr>
        <p:spPr>
          <a:xfrm>
            <a:off x="8185889" y="6359705"/>
            <a:ext cx="21604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kshar Unicode" panose="00000400000000000000" pitchFamily="2" charset="0"/>
                <a:cs typeface="Akshar Unicode" panose="00000400000000000000" pitchFamily="2" charset="0"/>
              </a:rPr>
              <a:t>AUTHENTICATION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42B906-85CB-2F0C-6DEE-2B09C8E35568}"/>
              </a:ext>
            </a:extLst>
          </p:cNvPr>
          <p:cNvSpPr txBox="1"/>
          <p:nvPr/>
        </p:nvSpPr>
        <p:spPr>
          <a:xfrm>
            <a:off x="10049628" y="6359705"/>
            <a:ext cx="21604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kshar Unicode" panose="00000400000000000000" pitchFamily="2" charset="0"/>
                <a:cs typeface="Akshar Unicode" panose="00000400000000000000" pitchFamily="2" charset="0"/>
              </a:rPr>
              <a:t>24/7 HELPLINE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38F4A-715D-8BEC-84B3-3A064AD65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7175" y="1312103"/>
            <a:ext cx="1066532" cy="10665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59F4B5-A5C1-9E1A-03FE-05219ED688F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623" t="13902" r="17165" b="13429"/>
          <a:stretch>
            <a:fillRect/>
          </a:stretch>
        </p:blipFill>
        <p:spPr>
          <a:xfrm>
            <a:off x="8709466" y="1300671"/>
            <a:ext cx="1071074" cy="11085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0C1C15-A944-BDB7-6162-0153DB165F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7657" y="1267689"/>
            <a:ext cx="1206525" cy="12065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10AB2F-D8DF-5C7D-6DD6-E96A316527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7175" y="3183242"/>
            <a:ext cx="1095200" cy="1095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18997D5-894E-9D78-92BA-AA943CE6A2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1161" y="3032151"/>
            <a:ext cx="1350685" cy="135068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17BAAAC-B13D-601D-B41B-8745450E79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5942" y="3175490"/>
            <a:ext cx="1148240" cy="114824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F860D05-CD29-AFEA-E89F-11E0C64877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9331" y="4920385"/>
            <a:ext cx="1278835" cy="127883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091BF84-5BB5-C5A3-0EA3-3035116DCB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42783" y="4968685"/>
            <a:ext cx="1204440" cy="120444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A468AAA-9E92-5F6A-E065-14E08D4D124E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98515" y="2342620"/>
            <a:ext cx="566225" cy="566225"/>
          </a:xfrm>
          <a:prstGeom prst="rect">
            <a:avLst/>
          </a:prstGeom>
        </p:spPr>
      </p:pic>
      <p:sp>
        <p:nvSpPr>
          <p:cNvPr id="36" name="Google Shape;105;p2">
            <a:extLst>
              <a:ext uri="{FF2B5EF4-FFF2-40B4-BE49-F238E27FC236}">
                <a16:creationId xmlns:a16="http://schemas.microsoft.com/office/drawing/2014/main" id="{FF3268BA-AF9D-757A-C4B4-D38EC9576812}"/>
              </a:ext>
            </a:extLst>
          </p:cNvPr>
          <p:cNvSpPr txBox="1"/>
          <p:nvPr/>
        </p:nvSpPr>
        <p:spPr>
          <a:xfrm>
            <a:off x="226395" y="2908845"/>
            <a:ext cx="591046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sz="1800" dirty="0">
                <a:latin typeface="Franklin Gothic Demi" panose="020B0703020102020204" pitchFamily="34" charset="0"/>
                <a:ea typeface="Calibri"/>
                <a:cs typeface="Calibri"/>
                <a:sym typeface="Calibri"/>
              </a:rPr>
              <a:t>DOCUMENT DATA ANALYASED VIA LLM MODEL</a:t>
            </a:r>
            <a:endParaRPr lang="en-US" sz="1800" dirty="0">
              <a:solidFill>
                <a:srgbClr val="000000"/>
              </a:solidFill>
              <a:latin typeface="Franklin Gothic Demi" panose="020B07030201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C74091C-6041-BE4D-9F7B-F089E9A2109F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98515" y="3380514"/>
            <a:ext cx="566225" cy="566225"/>
          </a:xfrm>
          <a:prstGeom prst="rect">
            <a:avLst/>
          </a:prstGeom>
        </p:spPr>
      </p:pic>
      <p:sp>
        <p:nvSpPr>
          <p:cNvPr id="43" name="Google Shape;105;p2">
            <a:extLst>
              <a:ext uri="{FF2B5EF4-FFF2-40B4-BE49-F238E27FC236}">
                <a16:creationId xmlns:a16="http://schemas.microsoft.com/office/drawing/2014/main" id="{98DC2AFB-4734-3429-56F6-7AFBAAF228EB}"/>
              </a:ext>
            </a:extLst>
          </p:cNvPr>
          <p:cNvSpPr txBox="1"/>
          <p:nvPr/>
        </p:nvSpPr>
        <p:spPr>
          <a:xfrm>
            <a:off x="185537" y="3946739"/>
            <a:ext cx="591046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sz="1800" dirty="0">
                <a:solidFill>
                  <a:srgbClr val="000000"/>
                </a:solidFill>
                <a:latin typeface="Franklin Gothic Demi" panose="020B0703020102020204" pitchFamily="34" charset="0"/>
                <a:ea typeface="Calibri"/>
                <a:cs typeface="Calibri"/>
                <a:sym typeface="Calibri"/>
              </a:rPr>
              <a:t>STANDARD FOR</a:t>
            </a:r>
            <a:r>
              <a:rPr lang="en-US" sz="1800" dirty="0">
                <a:latin typeface="Franklin Gothic Demi" panose="020B0703020102020204" pitchFamily="34" charset="0"/>
                <a:ea typeface="Calibri"/>
                <a:cs typeface="Calibri"/>
                <a:sym typeface="Calibri"/>
              </a:rPr>
              <a:t>MAT DOCUMENT GENERATED</a:t>
            </a:r>
            <a:endParaRPr lang="en-US" sz="1800" dirty="0">
              <a:solidFill>
                <a:srgbClr val="000000"/>
              </a:solidFill>
              <a:latin typeface="Franklin Gothic Demi" panose="020B07030201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35CB032-7EB4-EBD5-F708-E1C3870C7625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98515" y="4418408"/>
            <a:ext cx="566225" cy="566225"/>
          </a:xfrm>
          <a:prstGeom prst="rect">
            <a:avLst/>
          </a:prstGeom>
        </p:spPr>
      </p:pic>
      <p:sp>
        <p:nvSpPr>
          <p:cNvPr id="45" name="Google Shape;105;p2">
            <a:extLst>
              <a:ext uri="{FF2B5EF4-FFF2-40B4-BE49-F238E27FC236}">
                <a16:creationId xmlns:a16="http://schemas.microsoft.com/office/drawing/2014/main" id="{43DF4074-D152-140C-429F-DBCC5ECC5A09}"/>
              </a:ext>
            </a:extLst>
          </p:cNvPr>
          <p:cNvSpPr txBox="1"/>
          <p:nvPr/>
        </p:nvSpPr>
        <p:spPr>
          <a:xfrm>
            <a:off x="226395" y="4984633"/>
            <a:ext cx="591046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sz="1800" dirty="0">
                <a:solidFill>
                  <a:srgbClr val="000000"/>
                </a:solidFill>
                <a:latin typeface="Franklin Gothic Demi" panose="020B0703020102020204" pitchFamily="34" charset="0"/>
                <a:ea typeface="Calibri"/>
                <a:cs typeface="Calibri"/>
                <a:sym typeface="Calibri"/>
              </a:rPr>
              <a:t>FILE SUBMITTED </a:t>
            </a:r>
            <a:r>
              <a:rPr lang="en-US" sz="1800" dirty="0">
                <a:latin typeface="Franklin Gothic Demi" panose="020B0703020102020204" pitchFamily="34" charset="0"/>
                <a:ea typeface="Calibri"/>
                <a:cs typeface="Calibri"/>
                <a:sym typeface="Calibri"/>
              </a:rPr>
              <a:t>TO THE SPECIFIC MENTOR</a:t>
            </a:r>
            <a:endParaRPr lang="en-US" sz="1800" dirty="0">
              <a:solidFill>
                <a:srgbClr val="000000"/>
              </a:solidFill>
              <a:latin typeface="Franklin Gothic Demi" panose="020B07030201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6C7A5BB-5E4B-ABE7-4667-75C5E906342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98515" y="5456302"/>
            <a:ext cx="566225" cy="566225"/>
          </a:xfrm>
          <a:prstGeom prst="rect">
            <a:avLst/>
          </a:prstGeom>
        </p:spPr>
      </p:pic>
      <p:sp>
        <p:nvSpPr>
          <p:cNvPr id="47" name="Google Shape;105;p2">
            <a:extLst>
              <a:ext uri="{FF2B5EF4-FFF2-40B4-BE49-F238E27FC236}">
                <a16:creationId xmlns:a16="http://schemas.microsoft.com/office/drawing/2014/main" id="{7C13F933-A040-6ACA-3BB9-B200B09D40D2}"/>
              </a:ext>
            </a:extLst>
          </p:cNvPr>
          <p:cNvSpPr txBox="1"/>
          <p:nvPr/>
        </p:nvSpPr>
        <p:spPr>
          <a:xfrm>
            <a:off x="279261" y="5988479"/>
            <a:ext cx="591046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sz="1800" dirty="0">
                <a:latin typeface="Franklin Gothic Demi" panose="020B0703020102020204" pitchFamily="34" charset="0"/>
                <a:ea typeface="Calibri"/>
                <a:cs typeface="Calibri"/>
                <a:sym typeface="Calibri"/>
              </a:rPr>
              <a:t>MENTOR CHECK AND APPROVE THE BILL</a:t>
            </a:r>
            <a:endParaRPr lang="en-US" sz="1800" dirty="0">
              <a:solidFill>
                <a:srgbClr val="000000"/>
              </a:solidFill>
              <a:latin typeface="Franklin Gothic Demi" panose="020B07030201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64AA34B-08A2-46EB-D5C4-50E039D02EE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b="61626"/>
          <a:stretch>
            <a:fillRect/>
          </a:stretch>
        </p:blipFill>
        <p:spPr>
          <a:xfrm>
            <a:off x="167660" y="169698"/>
            <a:ext cx="2607597" cy="56285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0CB5FFA-4EA9-E4C3-D952-07E8D18E488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68560" y="191060"/>
            <a:ext cx="1950720" cy="836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17E3429-C79D-2768-75F9-2C9C7879C431}"/>
              </a:ext>
            </a:extLst>
          </p:cNvPr>
          <p:cNvSpPr/>
          <p:nvPr/>
        </p:nvSpPr>
        <p:spPr>
          <a:xfrm>
            <a:off x="452916" y="1488753"/>
            <a:ext cx="5011019" cy="5005137"/>
          </a:xfrm>
          <a:prstGeom prst="roundRect">
            <a:avLst>
              <a:gd name="adj" fmla="val 4393"/>
            </a:avLst>
          </a:prstGeom>
          <a:solidFill>
            <a:srgbClr val="00B0F0"/>
          </a:solidFill>
          <a:ln>
            <a:noFill/>
          </a:ln>
          <a:effectLst>
            <a:outerShdw blurRad="431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61976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6832186" y="1332194"/>
            <a:ext cx="489485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 R O C E S </a:t>
            </a:r>
            <a:r>
              <a:rPr lang="en-US" sz="16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       F L O W        A R C H I T R E C T U R E</a:t>
            </a:r>
            <a:endParaRPr sz="16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826D32-9470-9D68-12CC-EE48E8F32353}"/>
              </a:ext>
            </a:extLst>
          </p:cNvPr>
          <p:cNvSpPr/>
          <p:nvPr/>
        </p:nvSpPr>
        <p:spPr>
          <a:xfrm>
            <a:off x="625641" y="1607185"/>
            <a:ext cx="4678951" cy="1055804"/>
          </a:xfrm>
          <a:prstGeom prst="roundRect">
            <a:avLst>
              <a:gd name="adj" fmla="val 10589"/>
            </a:avLst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20939D-0FC9-F857-4B2E-A423361B0804}"/>
              </a:ext>
            </a:extLst>
          </p:cNvPr>
          <p:cNvSpPr/>
          <p:nvPr/>
        </p:nvSpPr>
        <p:spPr>
          <a:xfrm>
            <a:off x="625641" y="5300549"/>
            <a:ext cx="4678951" cy="1055804"/>
          </a:xfrm>
          <a:prstGeom prst="roundRect">
            <a:avLst>
              <a:gd name="adj" fmla="val 10589"/>
            </a:avLst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4214EC-DEE4-256F-DA50-088FD6BBD517}"/>
              </a:ext>
            </a:extLst>
          </p:cNvPr>
          <p:cNvSpPr/>
          <p:nvPr/>
        </p:nvSpPr>
        <p:spPr>
          <a:xfrm>
            <a:off x="625641" y="4044586"/>
            <a:ext cx="4678951" cy="1055804"/>
          </a:xfrm>
          <a:prstGeom prst="roundRect">
            <a:avLst>
              <a:gd name="adj" fmla="val 10589"/>
            </a:avLst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92DF67-4C8C-010C-C5F7-80576E1952C8}"/>
              </a:ext>
            </a:extLst>
          </p:cNvPr>
          <p:cNvSpPr/>
          <p:nvPr/>
        </p:nvSpPr>
        <p:spPr>
          <a:xfrm>
            <a:off x="609600" y="2829456"/>
            <a:ext cx="4678951" cy="1055804"/>
          </a:xfrm>
          <a:prstGeom prst="roundRect">
            <a:avLst>
              <a:gd name="adj" fmla="val 10589"/>
            </a:avLst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C51CE5-8A96-7201-85C6-3B4E6AE51BCA}"/>
              </a:ext>
            </a:extLst>
          </p:cNvPr>
          <p:cNvSpPr/>
          <p:nvPr/>
        </p:nvSpPr>
        <p:spPr>
          <a:xfrm>
            <a:off x="719222" y="1688745"/>
            <a:ext cx="4459706" cy="346875"/>
          </a:xfrm>
          <a:prstGeom prst="roundRect">
            <a:avLst>
              <a:gd name="adj" fmla="val 798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haroni" panose="02010803020104030203" pitchFamily="2" charset="-79"/>
                <a:ea typeface="Calibri"/>
                <a:cs typeface="Aharoni" panose="02010803020104030203" pitchFamily="2" charset="-79"/>
                <a:sym typeface="Calibri"/>
              </a:rPr>
              <a:t>Algorithm Development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8F8835-25F2-9962-17AC-A2894511E0DB}"/>
              </a:ext>
            </a:extLst>
          </p:cNvPr>
          <p:cNvSpPr/>
          <p:nvPr/>
        </p:nvSpPr>
        <p:spPr>
          <a:xfrm>
            <a:off x="737935" y="2898110"/>
            <a:ext cx="4459706" cy="346875"/>
          </a:xfrm>
          <a:prstGeom prst="roundRect">
            <a:avLst>
              <a:gd name="adj" fmla="val 798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haroni" panose="02010803020104030203" pitchFamily="2" charset="-79"/>
                <a:ea typeface="Calibri"/>
                <a:cs typeface="Aharoni" panose="02010803020104030203" pitchFamily="2" charset="-79"/>
                <a:sym typeface="Calibri"/>
              </a:rPr>
              <a:t>Website Development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2A97C0-CC76-9696-8B69-72842D9D7133}"/>
              </a:ext>
            </a:extLst>
          </p:cNvPr>
          <p:cNvSpPr/>
          <p:nvPr/>
        </p:nvSpPr>
        <p:spPr>
          <a:xfrm>
            <a:off x="737935" y="4127351"/>
            <a:ext cx="4459706" cy="346875"/>
          </a:xfrm>
          <a:prstGeom prst="roundRect">
            <a:avLst>
              <a:gd name="adj" fmla="val 798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haroni" panose="02010803020104030203" pitchFamily="2" charset="-79"/>
                <a:ea typeface="Calibri"/>
                <a:cs typeface="Aharoni" panose="02010803020104030203" pitchFamily="2" charset="-79"/>
                <a:sym typeface="Calibri"/>
              </a:rPr>
              <a:t>Encryption and Security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C9A70A-3BCF-273F-0D1A-E30E376100C2}"/>
              </a:ext>
            </a:extLst>
          </p:cNvPr>
          <p:cNvSpPr/>
          <p:nvPr/>
        </p:nvSpPr>
        <p:spPr>
          <a:xfrm>
            <a:off x="737935" y="5382127"/>
            <a:ext cx="4459706" cy="346875"/>
          </a:xfrm>
          <a:prstGeom prst="roundRect">
            <a:avLst>
              <a:gd name="adj" fmla="val 798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haroni" panose="02010803020104030203" pitchFamily="2" charset="-79"/>
                <a:ea typeface="Calibri"/>
                <a:cs typeface="Aharoni" panose="02010803020104030203" pitchFamily="2" charset="-79"/>
                <a:sym typeface="Calibri"/>
              </a:rPr>
              <a:t>Cloud Services</a:t>
            </a:r>
            <a:endParaRPr lang="en-US" sz="2000" dirty="0">
              <a:solidFill>
                <a:srgbClr val="002060"/>
              </a:solidFill>
              <a:latin typeface="Aharoni" panose="02010803020104030203" pitchFamily="2" charset="-79"/>
              <a:ea typeface="Calibri"/>
              <a:cs typeface="Aharoni" panose="02010803020104030203" pitchFamily="2" charset="-79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354A47-953B-ABFD-C393-F37B13A96B50}"/>
              </a:ext>
            </a:extLst>
          </p:cNvPr>
          <p:cNvSpPr txBox="1"/>
          <p:nvPr/>
        </p:nvSpPr>
        <p:spPr>
          <a:xfrm>
            <a:off x="4773846" y="2642191"/>
            <a:ext cx="4459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User Dashboard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4E91F3-D5F8-DE9A-BBCE-D1A19D3E9C7C}"/>
              </a:ext>
            </a:extLst>
          </p:cNvPr>
          <p:cNvSpPr txBox="1"/>
          <p:nvPr/>
        </p:nvSpPr>
        <p:spPr>
          <a:xfrm>
            <a:off x="737935" y="3357358"/>
            <a:ext cx="4459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HTML , CSS , JS, </a:t>
            </a:r>
            <a:r>
              <a:rPr lang="en-US" sz="1600" dirty="0" err="1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HeroUI</a:t>
            </a:r>
            <a:r>
              <a:rPr lang="en-US" sz="1600" dirty="0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 V3 , </a:t>
            </a:r>
            <a:r>
              <a:rPr lang="en-US" sz="1600" dirty="0" err="1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Next,js</a:t>
            </a:r>
            <a:r>
              <a:rPr lang="en-US" sz="1600" dirty="0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, Figma, Stitch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A58284-8B6A-23C6-FA99-F77482AD8762}"/>
              </a:ext>
            </a:extLst>
          </p:cNvPr>
          <p:cNvSpPr txBox="1"/>
          <p:nvPr/>
        </p:nvSpPr>
        <p:spPr>
          <a:xfrm>
            <a:off x="737935" y="4508310"/>
            <a:ext cx="4459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Firebase Authentication , Google Account Login</a:t>
            </a:r>
          </a:p>
          <a:p>
            <a:pPr algn="ctr"/>
            <a:endParaRPr lang="en-US" sz="1600" dirty="0">
              <a:solidFill>
                <a:schemeClr val="dk1"/>
              </a:solidFill>
              <a:latin typeface="Akshar Unicode" panose="00000400000000000000" pitchFamily="2" charset="0"/>
              <a:ea typeface="Calibri"/>
              <a:cs typeface="Akshar Unicode" panose="00000400000000000000" pitchFamily="2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BC385E-5DC0-E465-1989-85CC78D235BA}"/>
              </a:ext>
            </a:extLst>
          </p:cNvPr>
          <p:cNvSpPr txBox="1"/>
          <p:nvPr/>
        </p:nvSpPr>
        <p:spPr>
          <a:xfrm>
            <a:off x="737936" y="5750092"/>
            <a:ext cx="44597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Firebase- Database , API Key – Google Flash 3 , RAG Database – Pinecone, Deploy- </a:t>
            </a:r>
            <a:r>
              <a:rPr lang="en-US" sz="1600" dirty="0" err="1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Vercel</a:t>
            </a:r>
            <a:endParaRPr lang="en-US" sz="1600" dirty="0">
              <a:solidFill>
                <a:schemeClr val="dk1"/>
              </a:solidFill>
              <a:latin typeface="Akshar Unicode" panose="00000400000000000000" pitchFamily="2" charset="0"/>
              <a:ea typeface="Calibri"/>
              <a:cs typeface="Akshar Unicode" panose="00000400000000000000" pitchFamily="2" charset="0"/>
              <a:sym typeface="Calibri"/>
            </a:endParaRPr>
          </a:p>
          <a:p>
            <a:pPr algn="ctr"/>
            <a:endParaRPr lang="en-US" sz="1600" dirty="0">
              <a:solidFill>
                <a:schemeClr val="dk1"/>
              </a:solidFill>
              <a:latin typeface="Akshar Unicode" panose="00000400000000000000" pitchFamily="2" charset="0"/>
              <a:ea typeface="Calibri"/>
              <a:cs typeface="Akshar Unicode" panose="00000400000000000000" pitchFamily="2" charset="0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66861-C415-3442-A2F2-A99CC513D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560" y="1758069"/>
            <a:ext cx="901148" cy="901148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990721-9508-8824-EB8F-C583B0FFF762}"/>
              </a:ext>
            </a:extLst>
          </p:cNvPr>
          <p:cNvCxnSpPr>
            <a:cxnSpLocks/>
          </p:cNvCxnSpPr>
          <p:nvPr/>
        </p:nvCxnSpPr>
        <p:spPr>
          <a:xfrm>
            <a:off x="6546572" y="2951590"/>
            <a:ext cx="1" cy="471109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F347EF3B-CAA4-0003-F79E-4FDED408A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545" y="3501326"/>
            <a:ext cx="634055" cy="634055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68EBAB8-7E0C-9114-1744-5287FED721D1}"/>
              </a:ext>
            </a:extLst>
          </p:cNvPr>
          <p:cNvCxnSpPr>
            <a:cxnSpLocks/>
          </p:cNvCxnSpPr>
          <p:nvPr/>
        </p:nvCxnSpPr>
        <p:spPr>
          <a:xfrm>
            <a:off x="6546573" y="4474226"/>
            <a:ext cx="0" cy="583339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FB60AB04-1AAE-8175-9053-22FBE01B0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080" y="4951550"/>
            <a:ext cx="1488839" cy="148883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D94AF19-1523-DFC2-50CE-A7C71D744550}"/>
              </a:ext>
            </a:extLst>
          </p:cNvPr>
          <p:cNvSpPr txBox="1"/>
          <p:nvPr/>
        </p:nvSpPr>
        <p:spPr>
          <a:xfrm>
            <a:off x="4317191" y="4143527"/>
            <a:ext cx="4459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File Upload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802A34-3E44-0A94-B2E8-684A7AC67209}"/>
              </a:ext>
            </a:extLst>
          </p:cNvPr>
          <p:cNvSpPr txBox="1"/>
          <p:nvPr/>
        </p:nvSpPr>
        <p:spPr>
          <a:xfrm>
            <a:off x="4379584" y="6389445"/>
            <a:ext cx="4459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AI Model Analyze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65635B3-87B0-0A18-BE04-96F5DBC93DA8}"/>
              </a:ext>
            </a:extLst>
          </p:cNvPr>
          <p:cNvCxnSpPr>
            <a:cxnSpLocks/>
          </p:cNvCxnSpPr>
          <p:nvPr/>
        </p:nvCxnSpPr>
        <p:spPr>
          <a:xfrm>
            <a:off x="6863600" y="5964471"/>
            <a:ext cx="2260467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44B9C36C-AA2A-B273-B307-E3181AA473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0066" y="5093085"/>
            <a:ext cx="516621" cy="5796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C12B37C-BEAD-7E47-2CF4-E683C41C7E32}"/>
              </a:ext>
            </a:extLst>
          </p:cNvPr>
          <p:cNvSpPr txBox="1"/>
          <p:nvPr/>
        </p:nvSpPr>
        <p:spPr>
          <a:xfrm>
            <a:off x="5962752" y="6397656"/>
            <a:ext cx="4459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RAG Trained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8261A1B-8E61-8737-EF72-CF011D472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011" y="1761484"/>
            <a:ext cx="901148" cy="90114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35392A0-A0E0-1906-1A1D-B748AF4A4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6818" y="1765286"/>
            <a:ext cx="901148" cy="90114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CFD1567-71F7-E62F-69B7-3A769CDCFDF4}"/>
              </a:ext>
            </a:extLst>
          </p:cNvPr>
          <p:cNvSpPr txBox="1"/>
          <p:nvPr/>
        </p:nvSpPr>
        <p:spPr>
          <a:xfrm>
            <a:off x="6805921" y="2632426"/>
            <a:ext cx="4459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Mentor Dashboard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BAA1E6-E3CE-B8AF-3F9E-A6733D1A95D2}"/>
              </a:ext>
            </a:extLst>
          </p:cNvPr>
          <p:cNvSpPr txBox="1"/>
          <p:nvPr/>
        </p:nvSpPr>
        <p:spPr>
          <a:xfrm>
            <a:off x="8849314" y="2636409"/>
            <a:ext cx="4459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Admin Dashboard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D22ECD3-ECA7-F508-38EA-B4B21FB52FF5}"/>
              </a:ext>
            </a:extLst>
          </p:cNvPr>
          <p:cNvCxnSpPr>
            <a:cxnSpLocks/>
          </p:cNvCxnSpPr>
          <p:nvPr/>
        </p:nvCxnSpPr>
        <p:spPr>
          <a:xfrm flipH="1" flipV="1">
            <a:off x="9585184" y="2898110"/>
            <a:ext cx="8422" cy="2616033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5107F68E-1B2E-9461-D553-7342639AF7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3269" y="5687216"/>
            <a:ext cx="643831" cy="643831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A4555E9-F8DC-6F82-CFEC-1F4F933AC374}"/>
              </a:ext>
            </a:extLst>
          </p:cNvPr>
          <p:cNvCxnSpPr>
            <a:cxnSpLocks/>
          </p:cNvCxnSpPr>
          <p:nvPr/>
        </p:nvCxnSpPr>
        <p:spPr>
          <a:xfrm>
            <a:off x="8284211" y="5300549"/>
            <a:ext cx="451370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A5DB00E-75DB-7A80-FEB8-D6CAB846795C}"/>
              </a:ext>
            </a:extLst>
          </p:cNvPr>
          <p:cNvSpPr txBox="1"/>
          <p:nvPr/>
        </p:nvSpPr>
        <p:spPr>
          <a:xfrm>
            <a:off x="7355331" y="6383350"/>
            <a:ext cx="4459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Standard Doc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B84FBB3-8B9B-2B21-695C-8C9E342CC7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0851" y="3418500"/>
            <a:ext cx="831068" cy="831068"/>
          </a:xfrm>
          <a:prstGeom prst="rect">
            <a:avLst/>
          </a:prstGeom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1ADA966-EDB7-8F2E-1A9B-2472A55074C4}"/>
              </a:ext>
            </a:extLst>
          </p:cNvPr>
          <p:cNvCxnSpPr>
            <a:cxnSpLocks/>
          </p:cNvCxnSpPr>
          <p:nvPr/>
        </p:nvCxnSpPr>
        <p:spPr>
          <a:xfrm flipH="1">
            <a:off x="8458201" y="2951590"/>
            <a:ext cx="471" cy="474811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0906B98-D578-ABE8-665A-BF510131D65D}"/>
              </a:ext>
            </a:extLst>
          </p:cNvPr>
          <p:cNvSpPr txBox="1"/>
          <p:nvPr/>
        </p:nvSpPr>
        <p:spPr>
          <a:xfrm>
            <a:off x="6236532" y="4186326"/>
            <a:ext cx="4459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File Approved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7E4CD58-B9C1-A817-558B-6D61B382C80E}"/>
              </a:ext>
            </a:extLst>
          </p:cNvPr>
          <p:cNvCxnSpPr>
            <a:stCxn id="53" idx="1"/>
          </p:cNvCxnSpPr>
          <p:nvPr/>
        </p:nvCxnSpPr>
        <p:spPr>
          <a:xfrm flipH="1">
            <a:off x="7445708" y="3834034"/>
            <a:ext cx="605143" cy="0"/>
          </a:xfrm>
          <a:prstGeom prst="line">
            <a:avLst/>
          </a:prstGeom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DCC03E1-6355-BABF-A2B6-8146B4F8E8C3}"/>
              </a:ext>
            </a:extLst>
          </p:cNvPr>
          <p:cNvCxnSpPr/>
          <p:nvPr/>
        </p:nvCxnSpPr>
        <p:spPr>
          <a:xfrm flipV="1">
            <a:off x="7445708" y="2951590"/>
            <a:ext cx="0" cy="866763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65" name="Picture 64">
            <a:extLst>
              <a:ext uri="{FF2B5EF4-FFF2-40B4-BE49-F238E27FC236}">
                <a16:creationId xmlns:a16="http://schemas.microsoft.com/office/drawing/2014/main" id="{30C5C530-85C7-C326-C516-34BDCFE3C2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6808" y="5636992"/>
            <a:ext cx="687256" cy="687256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D9E1D284-6BDF-15A4-E2BB-8D9BA53C5155}"/>
              </a:ext>
            </a:extLst>
          </p:cNvPr>
          <p:cNvSpPr txBox="1"/>
          <p:nvPr/>
        </p:nvSpPr>
        <p:spPr>
          <a:xfrm>
            <a:off x="8847059" y="6371544"/>
            <a:ext cx="4459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Template Upload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12CE964-3B53-FB46-BE45-8A8CE0615014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11079167" y="2944186"/>
            <a:ext cx="0" cy="55714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6E34105-E8E1-C895-F121-1E3556C93397}"/>
              </a:ext>
            </a:extLst>
          </p:cNvPr>
          <p:cNvCxnSpPr>
            <a:cxnSpLocks/>
          </p:cNvCxnSpPr>
          <p:nvPr/>
        </p:nvCxnSpPr>
        <p:spPr>
          <a:xfrm flipH="1">
            <a:off x="10007600" y="5964471"/>
            <a:ext cx="649218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5FE5C95A-F4EA-1A7A-2533-F240BE00A769}"/>
              </a:ext>
            </a:extLst>
          </p:cNvPr>
          <p:cNvSpPr txBox="1"/>
          <p:nvPr/>
        </p:nvSpPr>
        <p:spPr>
          <a:xfrm>
            <a:off x="719222" y="2141574"/>
            <a:ext cx="4459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Next.Js</a:t>
            </a:r>
            <a:r>
              <a:rPr lang="en-US" sz="1600" dirty="0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 Routing, Telegram </a:t>
            </a:r>
            <a:r>
              <a:rPr lang="en-US" sz="1600" dirty="0" err="1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WebHook</a:t>
            </a:r>
            <a:r>
              <a:rPr lang="en-US" sz="1600" dirty="0">
                <a:solidFill>
                  <a:schemeClr val="dk1"/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 for File Hosting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712FC0EE-35FB-14BF-6B53-3ADEC9E4AA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92075" y="3601059"/>
            <a:ext cx="830634" cy="830634"/>
          </a:xfrm>
          <a:prstGeom prst="rect">
            <a:avLst/>
          </a:prstGeom>
        </p:spPr>
      </p:pic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5AA4B26-69AC-A740-0836-98A1E4009495}"/>
              </a:ext>
            </a:extLst>
          </p:cNvPr>
          <p:cNvCxnSpPr>
            <a:cxnSpLocks/>
          </p:cNvCxnSpPr>
          <p:nvPr/>
        </p:nvCxnSpPr>
        <p:spPr>
          <a:xfrm>
            <a:off x="11107392" y="4580801"/>
            <a:ext cx="0" cy="873978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0604F50D-16AF-B81E-79A1-8E270BF55137}"/>
              </a:ext>
            </a:extLst>
          </p:cNvPr>
          <p:cNvSpPr txBox="1"/>
          <p:nvPr/>
        </p:nvSpPr>
        <p:spPr>
          <a:xfrm rot="5400000">
            <a:off x="8389589" y="3931889"/>
            <a:ext cx="2654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SEND FOR APPROVAL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78EC56-6A1D-12E0-823A-9CBD17FA3B79}"/>
              </a:ext>
            </a:extLst>
          </p:cNvPr>
          <p:cNvSpPr txBox="1"/>
          <p:nvPr/>
        </p:nvSpPr>
        <p:spPr>
          <a:xfrm>
            <a:off x="6229545" y="3850705"/>
            <a:ext cx="26542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SEND SUCCESSFUL</a:t>
            </a:r>
          </a:p>
          <a:p>
            <a:pPr algn="ctr"/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QUERY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CF6A6002-B32D-D74D-A92B-94D90B80CA8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62053"/>
          <a:stretch>
            <a:fillRect/>
          </a:stretch>
        </p:blipFill>
        <p:spPr>
          <a:xfrm>
            <a:off x="167660" y="169698"/>
            <a:ext cx="2607597" cy="556588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076D57AF-7411-D35D-E17F-90043D68C922}"/>
              </a:ext>
            </a:extLst>
          </p:cNvPr>
          <p:cNvSpPr txBox="1"/>
          <p:nvPr/>
        </p:nvSpPr>
        <p:spPr>
          <a:xfrm>
            <a:off x="6592816" y="5959375"/>
            <a:ext cx="2531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SEND ALL  FETCHED </a:t>
            </a:r>
          </a:p>
          <a:p>
            <a:pPr algn="ctr"/>
            <a:r>
              <a:rPr lang="en-US" sz="800" dirty="0">
                <a:solidFill>
                  <a:schemeClr val="accent6">
                    <a:lumMod val="75000"/>
                  </a:schemeClr>
                </a:solidFill>
                <a:latin typeface="Akshar Unicode" panose="00000400000000000000" pitchFamily="2" charset="0"/>
                <a:ea typeface="Calibri"/>
                <a:cs typeface="Akshar Unicode" panose="00000400000000000000" pitchFamily="2" charset="0"/>
                <a:sym typeface="Calibri"/>
              </a:rPr>
              <a:t>NPUTS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93A1BAD1-7E4C-8DE9-54AD-B4D82F1F873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68560" y="191060"/>
            <a:ext cx="1950720" cy="83607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BAFF7EF-1EB2-C993-02E5-8247021B2E90}"/>
              </a:ext>
            </a:extLst>
          </p:cNvPr>
          <p:cNvCxnSpPr>
            <a:cxnSpLocks/>
          </p:cNvCxnSpPr>
          <p:nvPr/>
        </p:nvCxnSpPr>
        <p:spPr>
          <a:xfrm flipV="1">
            <a:off x="6805921" y="5328940"/>
            <a:ext cx="689786" cy="4721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4FBF914-1540-EE75-9F98-4C3688DCAB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9246" y="5089100"/>
            <a:ext cx="581397" cy="581397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5E86CA6-2348-D3C1-F9E8-732EDA58DBAB}"/>
              </a:ext>
            </a:extLst>
          </p:cNvPr>
          <p:cNvCxnSpPr>
            <a:cxnSpLocks/>
          </p:cNvCxnSpPr>
          <p:nvPr/>
        </p:nvCxnSpPr>
        <p:spPr>
          <a:xfrm flipH="1" flipV="1">
            <a:off x="8295128" y="5454779"/>
            <a:ext cx="417992" cy="4294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E8F9CA4-47E5-F29D-A062-796EAE884495}"/>
              </a:ext>
            </a:extLst>
          </p:cNvPr>
          <p:cNvCxnSpPr>
            <a:cxnSpLocks/>
          </p:cNvCxnSpPr>
          <p:nvPr/>
        </p:nvCxnSpPr>
        <p:spPr>
          <a:xfrm flipH="1" flipV="1">
            <a:off x="6817477" y="5504330"/>
            <a:ext cx="663177" cy="9813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DASHBOARD DETAILS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9" name="Google Shape;149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</a:t>
            </a:r>
            <a:r>
              <a:rPr lang="en-US" dirty="0">
                <a:solidFill>
                  <a:srgbClr val="FFFFFF"/>
                </a:solidFill>
              </a:rPr>
              <a:t>EAM INSANE</a:t>
            </a: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Google Shape;124;p3">
            <a:extLst>
              <a:ext uri="{FF2B5EF4-FFF2-40B4-BE49-F238E27FC236}">
                <a16:creationId xmlns:a16="http://schemas.microsoft.com/office/drawing/2014/main" id="{2261BFD9-8AD0-92FB-D3FD-0A9ADEACD123}"/>
              </a:ext>
            </a:extLst>
          </p:cNvPr>
          <p:cNvSpPr/>
          <p:nvPr/>
        </p:nvSpPr>
        <p:spPr>
          <a:xfrm>
            <a:off x="487688" y="2301553"/>
            <a:ext cx="3543467" cy="3754341"/>
          </a:xfrm>
          <a:prstGeom prst="rect">
            <a:avLst/>
          </a:prstGeom>
          <a:solidFill>
            <a:srgbClr val="00B050"/>
          </a:solidFill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0" dist="38100" dir="2700000" sx="102000" sy="102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C1E40F-E863-D0A5-7696-9FE52B1B1436}"/>
              </a:ext>
            </a:extLst>
          </p:cNvPr>
          <p:cNvSpPr txBox="1"/>
          <p:nvPr/>
        </p:nvSpPr>
        <p:spPr>
          <a:xfrm>
            <a:off x="548643" y="2330428"/>
            <a:ext cx="342155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GFF Latin W05 Bold" pitchFamily="2" charset="0"/>
              </a:rPr>
              <a:t>USER DASHBOARD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35B448-4CB9-3FFC-23B8-1567AC5339E4}"/>
              </a:ext>
            </a:extLst>
          </p:cNvPr>
          <p:cNvSpPr txBox="1"/>
          <p:nvPr/>
        </p:nvSpPr>
        <p:spPr>
          <a:xfrm>
            <a:off x="4385222" y="3045038"/>
            <a:ext cx="342155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FF Latin W05 Bold" pitchFamily="2" charset="0"/>
              </a:rPr>
              <a:t>NEGATIVE IMPACTS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6096CC-D009-4D70-C614-A44152A31B15}"/>
              </a:ext>
            </a:extLst>
          </p:cNvPr>
          <p:cNvSpPr txBox="1"/>
          <p:nvPr/>
        </p:nvSpPr>
        <p:spPr>
          <a:xfrm>
            <a:off x="8221803" y="3045038"/>
            <a:ext cx="342155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FF Latin W05 Bold" pitchFamily="2" charset="0"/>
              </a:rPr>
              <a:t>SOLUTION BENIFITS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E900C11-592D-35C0-752E-34DB13247746}"/>
              </a:ext>
            </a:extLst>
          </p:cNvPr>
          <p:cNvSpPr/>
          <p:nvPr/>
        </p:nvSpPr>
        <p:spPr>
          <a:xfrm flipH="1">
            <a:off x="3528236" y="-1573042"/>
            <a:ext cx="45719" cy="650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124;p3">
            <a:extLst>
              <a:ext uri="{FF2B5EF4-FFF2-40B4-BE49-F238E27FC236}">
                <a16:creationId xmlns:a16="http://schemas.microsoft.com/office/drawing/2014/main" id="{B9B3A37F-07AD-E7E9-D11F-C0E400897A72}"/>
              </a:ext>
            </a:extLst>
          </p:cNvPr>
          <p:cNvSpPr/>
          <p:nvPr/>
        </p:nvSpPr>
        <p:spPr>
          <a:xfrm>
            <a:off x="4315476" y="2301554"/>
            <a:ext cx="3543467" cy="3754340"/>
          </a:xfrm>
          <a:prstGeom prst="rect">
            <a:avLst/>
          </a:prstGeom>
          <a:solidFill>
            <a:srgbClr val="F84D08"/>
          </a:solidFill>
          <a:ln w="25400" cap="flat" cmpd="sng">
            <a:solidFill>
              <a:srgbClr val="F84D0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0" dist="38100" dir="2700000" sx="102000" sy="102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24;p3">
            <a:extLst>
              <a:ext uri="{FF2B5EF4-FFF2-40B4-BE49-F238E27FC236}">
                <a16:creationId xmlns:a16="http://schemas.microsoft.com/office/drawing/2014/main" id="{DB89075D-FA57-8A8C-36E4-5011A004012E}"/>
              </a:ext>
            </a:extLst>
          </p:cNvPr>
          <p:cNvSpPr/>
          <p:nvPr/>
        </p:nvSpPr>
        <p:spPr>
          <a:xfrm>
            <a:off x="8143264" y="2301553"/>
            <a:ext cx="3543467" cy="3754340"/>
          </a:xfrm>
          <a:prstGeom prst="rect">
            <a:avLst/>
          </a:prstGeom>
          <a:solidFill>
            <a:srgbClr val="00B0F0"/>
          </a:solidFill>
          <a:ln w="254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0" dist="38100" dir="2700000" sx="102000" sy="102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356E81-0134-2C63-CCF1-C6C9D4478ED9}"/>
              </a:ext>
            </a:extLst>
          </p:cNvPr>
          <p:cNvSpPr txBox="1"/>
          <p:nvPr/>
        </p:nvSpPr>
        <p:spPr>
          <a:xfrm>
            <a:off x="8195431" y="2324875"/>
            <a:ext cx="342155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GFF Latin W05 Bold" pitchFamily="2" charset="0"/>
              </a:rPr>
              <a:t>ADMIN PANEL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96F65F8-E18D-FD2B-0071-5B6418EFE028}"/>
              </a:ext>
            </a:extLst>
          </p:cNvPr>
          <p:cNvSpPr/>
          <p:nvPr/>
        </p:nvSpPr>
        <p:spPr>
          <a:xfrm>
            <a:off x="616710" y="2820969"/>
            <a:ext cx="3285420" cy="3094572"/>
          </a:xfrm>
          <a:prstGeom prst="roundRect">
            <a:avLst>
              <a:gd name="adj" fmla="val 310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Google Shape;151;p5"/>
          <p:cNvSpPr txBox="1"/>
          <p:nvPr/>
        </p:nvSpPr>
        <p:spPr>
          <a:xfrm>
            <a:off x="30481" y="3108879"/>
            <a:ext cx="378738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i="0" u="none" strike="noStrike" cap="none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  <a:sym typeface="Arial"/>
              </a:rPr>
              <a:t>Submit </a:t>
            </a: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New Files ( Work Orders, Builds, MOU’s, Invoice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i="0" u="none" strike="noStrike" cap="none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  <a:sym typeface="Arial"/>
              </a:rPr>
              <a:t>Edit the Generated Files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Requests for Project Approval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i="0" u="none" strike="noStrike" cap="none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  <a:sym typeface="Arial"/>
              </a:rPr>
              <a:t>In-App Chat and Queries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See Previous Documents</a:t>
            </a:r>
            <a:endParaRPr lang="en-US" sz="1800" i="0" u="none" strike="noStrike" cap="none" dirty="0">
              <a:solidFill>
                <a:schemeClr val="tx1"/>
              </a:solidFill>
              <a:latin typeface="Akshar Unicode" panose="020B0604020202020204" charset="0"/>
              <a:ea typeface="Cascadia Code SemiLight" panose="020B0609020000020004" pitchFamily="49" charset="0"/>
              <a:cs typeface="Akshar Unicode" panose="020B0604020202020204" charset="0"/>
              <a:sym typeface="Arial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2A944D-6E62-309A-6962-1C5BDC1B159F}"/>
              </a:ext>
            </a:extLst>
          </p:cNvPr>
          <p:cNvSpPr/>
          <p:nvPr/>
        </p:nvSpPr>
        <p:spPr>
          <a:xfrm>
            <a:off x="4453290" y="2820969"/>
            <a:ext cx="3285420" cy="3094572"/>
          </a:xfrm>
          <a:prstGeom prst="roundRect">
            <a:avLst>
              <a:gd name="adj" fmla="val 310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575748-E813-3AD9-DC91-F8ECB9469BE3}"/>
              </a:ext>
            </a:extLst>
          </p:cNvPr>
          <p:cNvSpPr txBox="1"/>
          <p:nvPr/>
        </p:nvSpPr>
        <p:spPr>
          <a:xfrm>
            <a:off x="4385222" y="2305641"/>
            <a:ext cx="342155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GFF Latin W05 Bold" pitchFamily="2" charset="0"/>
              </a:rPr>
              <a:t>MENTOR DASHBOARD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E2D12F-4E03-64D3-C6EF-79F5C8412717}"/>
              </a:ext>
            </a:extLst>
          </p:cNvPr>
          <p:cNvSpPr/>
          <p:nvPr/>
        </p:nvSpPr>
        <p:spPr>
          <a:xfrm>
            <a:off x="8289870" y="2854234"/>
            <a:ext cx="3285420" cy="3094572"/>
          </a:xfrm>
          <a:prstGeom prst="roundRect">
            <a:avLst>
              <a:gd name="adj" fmla="val 310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Google Shape;151;p5">
            <a:extLst>
              <a:ext uri="{FF2B5EF4-FFF2-40B4-BE49-F238E27FC236}">
                <a16:creationId xmlns:a16="http://schemas.microsoft.com/office/drawing/2014/main" id="{146D5D7B-C1EC-E514-9AF4-39067F762DA0}"/>
              </a:ext>
            </a:extLst>
          </p:cNvPr>
          <p:cNvSpPr txBox="1"/>
          <p:nvPr/>
        </p:nvSpPr>
        <p:spPr>
          <a:xfrm>
            <a:off x="3979314" y="3108879"/>
            <a:ext cx="3704652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View New Opened Projects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Approve the Project / Documents From User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Suggest for Changes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Hold the Project and Review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See Previous version of Documents.</a:t>
            </a:r>
          </a:p>
        </p:txBody>
      </p:sp>
      <p:sp>
        <p:nvSpPr>
          <p:cNvPr id="6" name="Google Shape;151;p5">
            <a:extLst>
              <a:ext uri="{FF2B5EF4-FFF2-40B4-BE49-F238E27FC236}">
                <a16:creationId xmlns:a16="http://schemas.microsoft.com/office/drawing/2014/main" id="{8D969076-CD00-A7F9-5EF3-F3E2098E47CD}"/>
              </a:ext>
            </a:extLst>
          </p:cNvPr>
          <p:cNvSpPr txBox="1"/>
          <p:nvPr/>
        </p:nvSpPr>
        <p:spPr>
          <a:xfrm>
            <a:off x="7771693" y="2984280"/>
            <a:ext cx="3704652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Generate new Mentor ID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Track Overall Projects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Add / Edit Templates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Authenticate Users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Configure Backends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Add Sections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Edit Document Layouts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Add / Delete Histories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Review Mentor Approvals</a:t>
            </a:r>
          </a:p>
          <a:p>
            <a:pPr marL="914400" marR="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kshar Unicode" panose="020B0604020202020204" charset="0"/>
                <a:ea typeface="Cascadia Code SemiLight" panose="020B0609020000020004" pitchFamily="49" charset="0"/>
                <a:cs typeface="Akshar Unicode" panose="020B0604020202020204" charset="0"/>
              </a:rPr>
              <a:t>Add / Delete Rules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2212426-EBD7-9514-BE34-9C330E828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8560" y="191060"/>
            <a:ext cx="1950720" cy="8360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93B0EA-8112-F1F8-97AF-5F581016A6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2053"/>
          <a:stretch>
            <a:fillRect/>
          </a:stretch>
        </p:blipFill>
        <p:spPr>
          <a:xfrm>
            <a:off x="167660" y="169698"/>
            <a:ext cx="2607597" cy="5565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BDCFD21B-67BA-6309-0806-83D0D287B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>
            <a:extLst>
              <a:ext uri="{FF2B5EF4-FFF2-40B4-BE49-F238E27FC236}">
                <a16:creationId xmlns:a16="http://schemas.microsoft.com/office/drawing/2014/main" id="{499AB9CA-9850-A1F0-1B7B-8C8EC70E06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MARKETING SCOPE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DEF36CCD-339F-E869-93C4-348F2B4EC7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F2BEAB14-45AF-5DBD-8AAD-3DF299C8841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</a:t>
            </a:r>
            <a:r>
              <a:rPr lang="en-US" dirty="0">
                <a:solidFill>
                  <a:srgbClr val="FFFFFF"/>
                </a:solidFill>
              </a:rPr>
              <a:t>EAM INSANE</a:t>
            </a: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Google Shape;124;p3">
            <a:extLst>
              <a:ext uri="{FF2B5EF4-FFF2-40B4-BE49-F238E27FC236}">
                <a16:creationId xmlns:a16="http://schemas.microsoft.com/office/drawing/2014/main" id="{71E6CA2B-5C8F-80AF-9EA7-042562415B2B}"/>
              </a:ext>
            </a:extLst>
          </p:cNvPr>
          <p:cNvSpPr/>
          <p:nvPr/>
        </p:nvSpPr>
        <p:spPr>
          <a:xfrm>
            <a:off x="875071" y="1636470"/>
            <a:ext cx="10432026" cy="5030469"/>
          </a:xfrm>
          <a:prstGeom prst="rect">
            <a:avLst/>
          </a:prstGeom>
          <a:solidFill>
            <a:srgbClr val="00B050"/>
          </a:solidFill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0" dist="38100" dir="2700000" sx="102000" sy="102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5980D4-D013-EBE5-37B5-A9A0E2EBCE61}"/>
              </a:ext>
            </a:extLst>
          </p:cNvPr>
          <p:cNvSpPr/>
          <p:nvPr/>
        </p:nvSpPr>
        <p:spPr>
          <a:xfrm flipH="1">
            <a:off x="3528236" y="-1573042"/>
            <a:ext cx="45719" cy="650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3B5620C-41C6-0235-920B-EC8D8F569869}"/>
              </a:ext>
            </a:extLst>
          </p:cNvPr>
          <p:cNvSpPr/>
          <p:nvPr/>
        </p:nvSpPr>
        <p:spPr>
          <a:xfrm>
            <a:off x="1131628" y="2622593"/>
            <a:ext cx="9918911" cy="486285"/>
          </a:xfrm>
          <a:prstGeom prst="roundRect">
            <a:avLst>
              <a:gd name="adj" fmla="val 916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83BDB4C5-85AE-C8E8-30F4-82B47EED94E9}"/>
              </a:ext>
            </a:extLst>
          </p:cNvPr>
          <p:cNvSpPr txBox="1"/>
          <p:nvPr/>
        </p:nvSpPr>
        <p:spPr>
          <a:xfrm>
            <a:off x="531924" y="2581918"/>
            <a:ext cx="1030322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lvl="1">
              <a:buClr>
                <a:schemeClr val="dk1"/>
              </a:buClr>
              <a:buSzPts val="1800"/>
            </a:pPr>
            <a:r>
              <a:rPr lang="en-US" sz="1600" b="1" dirty="0">
                <a:solidFill>
                  <a:schemeClr val="tx1"/>
                </a:solidFill>
              </a:rPr>
              <a:t>Organizations looking to streamline the submission and approval process for startup work orders and MOUs.</a:t>
            </a:r>
            <a:endParaRPr lang="en-US" sz="1600" b="1" i="0" u="none" strike="noStrike" cap="none" dirty="0">
              <a:solidFill>
                <a:schemeClr val="tx1"/>
              </a:solidFill>
              <a:latin typeface="Akshar Unicode" panose="020B0604020202020204" charset="0"/>
              <a:ea typeface="Cascadia Code SemiLight" panose="020B0609020000020004" pitchFamily="49" charset="0"/>
              <a:cs typeface="Akshar Unicode" panose="020B0604020202020204" charset="0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F864BF-9335-0A97-3BF6-976E2333D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8560" y="191060"/>
            <a:ext cx="1950720" cy="836071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C9354DF-20BE-01BA-80A0-838971FD7D4F}"/>
              </a:ext>
            </a:extLst>
          </p:cNvPr>
          <p:cNvSpPr/>
          <p:nvPr/>
        </p:nvSpPr>
        <p:spPr>
          <a:xfrm>
            <a:off x="1131628" y="2177566"/>
            <a:ext cx="3990978" cy="378142"/>
          </a:xfrm>
          <a:prstGeom prst="roundRect">
            <a:avLst>
              <a:gd name="adj" fmla="val 9168"/>
            </a:avLst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Incubation Centers &amp; Accelerators</a:t>
            </a:r>
            <a:r>
              <a:rPr lang="en-US" sz="160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24DDFB-ACF1-693E-FE5E-64CA2408110B}"/>
              </a:ext>
            </a:extLst>
          </p:cNvPr>
          <p:cNvSpPr/>
          <p:nvPr/>
        </p:nvSpPr>
        <p:spPr>
          <a:xfrm>
            <a:off x="1131628" y="3710469"/>
            <a:ext cx="9918911" cy="486285"/>
          </a:xfrm>
          <a:prstGeom prst="roundRect">
            <a:avLst>
              <a:gd name="adj" fmla="val 916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Google Shape;151;p5">
            <a:extLst>
              <a:ext uri="{FF2B5EF4-FFF2-40B4-BE49-F238E27FC236}">
                <a16:creationId xmlns:a16="http://schemas.microsoft.com/office/drawing/2014/main" id="{793BB3CB-2905-79C4-60F3-CA0496015FC0}"/>
              </a:ext>
            </a:extLst>
          </p:cNvPr>
          <p:cNvSpPr txBox="1"/>
          <p:nvPr/>
        </p:nvSpPr>
        <p:spPr>
          <a:xfrm>
            <a:off x="531924" y="3669794"/>
            <a:ext cx="1030322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lvl="1">
              <a:buClr>
                <a:schemeClr val="dk1"/>
              </a:buClr>
              <a:buSzPts val="1800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Cascadia Code SemiLight" panose="020B0609020000020004" pitchFamily="49" charset="0"/>
                <a:cs typeface="Akshar Unicode" panose="020B0604020202020204" charset="0"/>
                <a:sym typeface="Arial"/>
              </a:rPr>
              <a:t>Founders who require automated, standard-format document generation (Invoices, MOUs) to maintain professionalism with minimal effort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D891D21-9BAE-3322-4FED-77FC1FE5B394}"/>
              </a:ext>
            </a:extLst>
          </p:cNvPr>
          <p:cNvSpPr/>
          <p:nvPr/>
        </p:nvSpPr>
        <p:spPr>
          <a:xfrm>
            <a:off x="1131628" y="3265442"/>
            <a:ext cx="3990978" cy="378142"/>
          </a:xfrm>
          <a:prstGeom prst="roundRect">
            <a:avLst>
              <a:gd name="adj" fmla="val 9168"/>
            </a:avLst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Early-Stage Startups</a:t>
            </a:r>
            <a:r>
              <a:rPr lang="en-IN" sz="1600" dirty="0"/>
              <a:t>: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FA28F15-A35C-4156-6A7A-B31628ECC9F0}"/>
              </a:ext>
            </a:extLst>
          </p:cNvPr>
          <p:cNvSpPr/>
          <p:nvPr/>
        </p:nvSpPr>
        <p:spPr>
          <a:xfrm>
            <a:off x="1131628" y="4798345"/>
            <a:ext cx="9918911" cy="486285"/>
          </a:xfrm>
          <a:prstGeom prst="roundRect">
            <a:avLst>
              <a:gd name="adj" fmla="val 916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Google Shape;151;p5">
            <a:extLst>
              <a:ext uri="{FF2B5EF4-FFF2-40B4-BE49-F238E27FC236}">
                <a16:creationId xmlns:a16="http://schemas.microsoft.com/office/drawing/2014/main" id="{328F5673-57D2-73AB-CC4E-1406D7A0DB9C}"/>
              </a:ext>
            </a:extLst>
          </p:cNvPr>
          <p:cNvSpPr txBox="1"/>
          <p:nvPr/>
        </p:nvSpPr>
        <p:spPr>
          <a:xfrm>
            <a:off x="531924" y="4757670"/>
            <a:ext cx="1030322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lvl="1">
              <a:buClr>
                <a:schemeClr val="dk1"/>
              </a:buClr>
              <a:buSzPts val="1800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+mn-lt"/>
                <a:ea typeface="Cascadia Code SemiLight" panose="020B0609020000020004" pitchFamily="49" charset="0"/>
                <a:cs typeface="Akshar Unicode" panose="020B0604020202020204" charset="0"/>
                <a:sym typeface="Arial"/>
              </a:rPr>
              <a:t>Departments managing multiple sub-projects that require rigorous documentation and multi-level approval workflows.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6C76AC2-2F1A-6BE2-26B4-DE70124853B5}"/>
              </a:ext>
            </a:extLst>
          </p:cNvPr>
          <p:cNvSpPr/>
          <p:nvPr/>
        </p:nvSpPr>
        <p:spPr>
          <a:xfrm>
            <a:off x="1131628" y="4353318"/>
            <a:ext cx="3990978" cy="378142"/>
          </a:xfrm>
          <a:prstGeom prst="roundRect">
            <a:avLst>
              <a:gd name="adj" fmla="val 9168"/>
            </a:avLst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Corporate R&amp;D Wings</a:t>
            </a:r>
            <a:r>
              <a:rPr lang="en-IN" sz="1600" dirty="0"/>
              <a:t>: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BB0997D-FCD6-0653-B9EF-592D058C94EB}"/>
              </a:ext>
            </a:extLst>
          </p:cNvPr>
          <p:cNvSpPr/>
          <p:nvPr/>
        </p:nvSpPr>
        <p:spPr>
          <a:xfrm>
            <a:off x="1131628" y="5890575"/>
            <a:ext cx="9918911" cy="486285"/>
          </a:xfrm>
          <a:prstGeom prst="roundRect">
            <a:avLst>
              <a:gd name="adj" fmla="val 916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Google Shape;151;p5">
            <a:extLst>
              <a:ext uri="{FF2B5EF4-FFF2-40B4-BE49-F238E27FC236}">
                <a16:creationId xmlns:a16="http://schemas.microsoft.com/office/drawing/2014/main" id="{E324DB65-4184-9C84-D9ED-8EB98680F44B}"/>
              </a:ext>
            </a:extLst>
          </p:cNvPr>
          <p:cNvSpPr txBox="1"/>
          <p:nvPr/>
        </p:nvSpPr>
        <p:spPr>
          <a:xfrm>
            <a:off x="531924" y="5849900"/>
            <a:ext cx="1030322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lvl="1">
              <a:buClr>
                <a:schemeClr val="dk1"/>
              </a:buClr>
              <a:buSzPts val="1800"/>
            </a:pPr>
            <a:r>
              <a:rPr lang="en-US" sz="1600" b="1" dirty="0"/>
              <a:t>Universities needing a standardized platform for student project submissions, mentor reviews, and version control.</a:t>
            </a:r>
            <a:endParaRPr lang="en-US" sz="1600" b="1" i="0" u="none" strike="noStrike" cap="none" dirty="0">
              <a:solidFill>
                <a:schemeClr val="tx1"/>
              </a:solidFill>
              <a:latin typeface="Akshar Unicode" panose="020B0604020202020204" charset="0"/>
              <a:ea typeface="Cascadia Code SemiLight" panose="020B0609020000020004" pitchFamily="49" charset="0"/>
              <a:cs typeface="Akshar Unicode" panose="020B0604020202020204" charset="0"/>
              <a:sym typeface="Arial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1E3958C-A762-7408-08FB-65825A7534D0}"/>
              </a:ext>
            </a:extLst>
          </p:cNvPr>
          <p:cNvSpPr/>
          <p:nvPr/>
        </p:nvSpPr>
        <p:spPr>
          <a:xfrm>
            <a:off x="1131628" y="5445548"/>
            <a:ext cx="3990978" cy="378142"/>
          </a:xfrm>
          <a:prstGeom prst="roundRect">
            <a:avLst>
              <a:gd name="adj" fmla="val 9168"/>
            </a:avLst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/>
              <a:t>Educational Institutions</a:t>
            </a:r>
            <a:r>
              <a:rPr lang="en-IN" sz="1600"/>
              <a:t>: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AB6C46-8027-8F3A-286F-B5F46F3181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2053"/>
          <a:stretch>
            <a:fillRect/>
          </a:stretch>
        </p:blipFill>
        <p:spPr>
          <a:xfrm>
            <a:off x="167660" y="169698"/>
            <a:ext cx="2607597" cy="55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2166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title"/>
          </p:nvPr>
        </p:nvSpPr>
        <p:spPr>
          <a:xfrm>
            <a:off x="609600" y="8128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7" name="Google Shape;137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TEAM INSNAE</a:t>
            </a: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" name="Google Shape;124;p3">
            <a:extLst>
              <a:ext uri="{FF2B5EF4-FFF2-40B4-BE49-F238E27FC236}">
                <a16:creationId xmlns:a16="http://schemas.microsoft.com/office/drawing/2014/main" id="{198AF934-B5A5-88B4-D2D1-98D38AD6A61A}"/>
              </a:ext>
            </a:extLst>
          </p:cNvPr>
          <p:cNvSpPr/>
          <p:nvPr/>
        </p:nvSpPr>
        <p:spPr>
          <a:xfrm>
            <a:off x="1050841" y="1396004"/>
            <a:ext cx="10090313" cy="506607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0" dist="38100" dir="2700000" sx="102000" sy="102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9EC935-142B-B635-45C0-5A0319146DD6}"/>
              </a:ext>
            </a:extLst>
          </p:cNvPr>
          <p:cNvSpPr/>
          <p:nvPr/>
        </p:nvSpPr>
        <p:spPr>
          <a:xfrm>
            <a:off x="1161351" y="1472450"/>
            <a:ext cx="9832728" cy="45446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Platform &amp; Software Used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E18F2-D79A-722D-4E7F-D84CC70A1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928" y="2264930"/>
            <a:ext cx="1015752" cy="1277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A6BED8-A108-B262-5C47-BD512F221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458" y="2294212"/>
            <a:ext cx="1271510" cy="12715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A29900-5DBD-8D25-686F-81FC7EC925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760" y="2308174"/>
            <a:ext cx="1368680" cy="12575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A413D2-2742-ADE0-53CA-E1F97F8DDA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4817" y="4514674"/>
            <a:ext cx="1271511" cy="12715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49B824-47E3-DF9C-7DAE-D1D488B962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478" y="4820224"/>
            <a:ext cx="2469684" cy="5653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33A1A81-F780-2A35-0B19-46659ED25A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7320" y="4278091"/>
            <a:ext cx="1743703" cy="174370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F8759A1-FCFA-9B39-75B3-BA109CCED347}"/>
              </a:ext>
            </a:extLst>
          </p:cNvPr>
          <p:cNvSpPr txBox="1"/>
          <p:nvPr/>
        </p:nvSpPr>
        <p:spPr>
          <a:xfrm>
            <a:off x="1084449" y="3694358"/>
            <a:ext cx="24122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Github</a:t>
            </a:r>
            <a:endParaRPr lang="en-US" sz="2000" dirty="0">
              <a:latin typeface="Aharoni" panose="02010803020104030203" pitchFamily="2" charset="-79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627482-8668-EBA2-DB87-FC250873ADEE}"/>
              </a:ext>
            </a:extLst>
          </p:cNvPr>
          <p:cNvSpPr txBox="1"/>
          <p:nvPr/>
        </p:nvSpPr>
        <p:spPr>
          <a:xfrm>
            <a:off x="3611478" y="3699064"/>
            <a:ext cx="24122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Firebase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F72519-16F1-D3DB-86B8-969CB087AF19}"/>
              </a:ext>
            </a:extLst>
          </p:cNvPr>
          <p:cNvSpPr txBox="1"/>
          <p:nvPr/>
        </p:nvSpPr>
        <p:spPr>
          <a:xfrm>
            <a:off x="6193977" y="3694358"/>
            <a:ext cx="24122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Antigravity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04A185-92C7-B928-54CC-4FA842EF0F45}"/>
              </a:ext>
            </a:extLst>
          </p:cNvPr>
          <p:cNvSpPr txBox="1"/>
          <p:nvPr/>
        </p:nvSpPr>
        <p:spPr>
          <a:xfrm>
            <a:off x="1084448" y="5902094"/>
            <a:ext cx="24122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ImgBB</a:t>
            </a:r>
            <a:r>
              <a:rPr lang="en-US" sz="2000" dirty="0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 API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AE6A515-333D-B071-E6F8-B4FBF34E1B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1798" y="2244520"/>
            <a:ext cx="1264744" cy="126474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2D47575-A62B-1095-5047-EB3EE86462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8964" y="4549397"/>
            <a:ext cx="1070411" cy="120109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BB29823-1D26-7DC6-BE35-663A6E803CEE}"/>
              </a:ext>
            </a:extLst>
          </p:cNvPr>
          <p:cNvSpPr txBox="1"/>
          <p:nvPr/>
        </p:nvSpPr>
        <p:spPr>
          <a:xfrm>
            <a:off x="8658046" y="3694358"/>
            <a:ext cx="24122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Telegram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0E1616-9BA3-00C3-18B7-55359E9350BD}"/>
              </a:ext>
            </a:extLst>
          </p:cNvPr>
          <p:cNvSpPr txBox="1"/>
          <p:nvPr/>
        </p:nvSpPr>
        <p:spPr>
          <a:xfrm>
            <a:off x="3597189" y="5902094"/>
            <a:ext cx="24122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Vercel</a:t>
            </a:r>
            <a:endParaRPr lang="en-US" sz="2000" dirty="0">
              <a:latin typeface="Aharoni" panose="02010803020104030203" pitchFamily="2" charset="-79"/>
              <a:ea typeface="ADLaM Display" panose="0201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827C77-A932-3E2F-CB89-5637EBBEBBC5}"/>
              </a:ext>
            </a:extLst>
          </p:cNvPr>
          <p:cNvSpPr txBox="1"/>
          <p:nvPr/>
        </p:nvSpPr>
        <p:spPr>
          <a:xfrm>
            <a:off x="6163048" y="5902094"/>
            <a:ext cx="24122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Gemini API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11C78C-0C65-4C6D-CD6D-6D4CDF36DBCD}"/>
              </a:ext>
            </a:extLst>
          </p:cNvPr>
          <p:cNvSpPr txBox="1"/>
          <p:nvPr/>
        </p:nvSpPr>
        <p:spPr>
          <a:xfrm>
            <a:off x="8631781" y="5896894"/>
            <a:ext cx="24122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haroni" panose="02010803020104030203" pitchFamily="2" charset="-79"/>
                <a:ea typeface="ADLaM Display" panose="02010000000000000000" pitchFamily="2" charset="0"/>
                <a:cs typeface="Aharoni" panose="02010803020104030203" pitchFamily="2" charset="-79"/>
              </a:rPr>
              <a:t>Pinecone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6D3875A-AAF1-4E5D-71DF-7C7C3DD658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68560" y="191060"/>
            <a:ext cx="1950720" cy="8360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6FAA3FB-CAC7-82EB-731D-4534B9B9CED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b="62053"/>
          <a:stretch>
            <a:fillRect/>
          </a:stretch>
        </p:blipFill>
        <p:spPr>
          <a:xfrm>
            <a:off x="167660" y="169698"/>
            <a:ext cx="2607597" cy="5565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40379" y="28711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7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TEAM INSANE</a:t>
            </a: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78E837B-0E52-1365-93FD-95E5F4FF9967}"/>
              </a:ext>
            </a:extLst>
          </p:cNvPr>
          <p:cNvSpPr/>
          <p:nvPr/>
        </p:nvSpPr>
        <p:spPr>
          <a:xfrm>
            <a:off x="840379" y="1919106"/>
            <a:ext cx="10511241" cy="1379118"/>
          </a:xfrm>
          <a:prstGeom prst="roundRect">
            <a:avLst>
              <a:gd name="adj" fmla="val 9731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5D3A6-CC15-9830-21D9-7B3B82572BDF}"/>
              </a:ext>
            </a:extLst>
          </p:cNvPr>
          <p:cNvSpPr txBox="1"/>
          <p:nvPr/>
        </p:nvSpPr>
        <p:spPr>
          <a:xfrm>
            <a:off x="1098912" y="2233906"/>
            <a:ext cx="43426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b="1" dirty="0">
                <a:latin typeface="GFF Devanagari W05 Medium" pitchFamily="2" charset="0"/>
                <a:ea typeface="GFF Devanagari W05 Medium" pitchFamily="2" charset="0"/>
                <a:cs typeface="GFF Devanagari W05 Medium" pitchFamily="2" charset="0"/>
              </a:rPr>
              <a:t>TOOLS USED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907150BA-2F0D-ED39-8E78-2650E1A48142}"/>
              </a:ext>
            </a:extLst>
          </p:cNvPr>
          <p:cNvSpPr/>
          <p:nvPr/>
        </p:nvSpPr>
        <p:spPr>
          <a:xfrm rot="16200000">
            <a:off x="2978828" y="1417768"/>
            <a:ext cx="2438555" cy="6715453"/>
          </a:xfrm>
          <a:prstGeom prst="round2SameRect">
            <a:avLst>
              <a:gd name="adj1" fmla="val 6230"/>
              <a:gd name="adj2" fmla="val 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EFE4C1-356B-1A41-FB03-E22444177380}"/>
              </a:ext>
            </a:extLst>
          </p:cNvPr>
          <p:cNvSpPr txBox="1"/>
          <p:nvPr/>
        </p:nvSpPr>
        <p:spPr>
          <a:xfrm>
            <a:off x="1098912" y="3737811"/>
            <a:ext cx="6271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GFF Devanagari W05 Medium" pitchFamily="2" charset="0"/>
                <a:ea typeface="GFF Devanagari W05 Medium" pitchFamily="2" charset="0"/>
                <a:cs typeface="GFF Devanagari W05 Medium" pitchFamily="2" charset="0"/>
              </a:rPr>
              <a:t>REFER LINKS USED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DDD1A6-8E39-6E2B-A1E0-CB8DD3B3981E}"/>
              </a:ext>
            </a:extLst>
          </p:cNvPr>
          <p:cNvSpPr txBox="1"/>
          <p:nvPr/>
        </p:nvSpPr>
        <p:spPr>
          <a:xfrm>
            <a:off x="840379" y="4199476"/>
            <a:ext cx="67154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https://flaticon.com/</a:t>
            </a:r>
            <a:endParaRPr lang="en-US" dirty="0"/>
          </a:p>
          <a:p>
            <a:r>
              <a:rPr lang="en-US" dirty="0">
                <a:hlinkClick r:id="rId4"/>
              </a:rPr>
              <a:t>https://firebase.com/console</a:t>
            </a:r>
            <a:endParaRPr lang="en-US" dirty="0"/>
          </a:p>
          <a:p>
            <a:r>
              <a:rPr lang="en-US" dirty="0">
                <a:hlinkClick r:id="rId5"/>
              </a:rPr>
              <a:t>https://flaticon/.com/</a:t>
            </a:r>
            <a:endParaRPr lang="en-US" dirty="0"/>
          </a:p>
          <a:p>
            <a:r>
              <a:rPr lang="en-US" dirty="0">
                <a:hlinkClick r:id="rId6"/>
              </a:rPr>
              <a:t>https://pinecone.com</a:t>
            </a:r>
            <a:endParaRPr lang="en-US" dirty="0"/>
          </a:p>
          <a:p>
            <a:endParaRPr lang="en-US" dirty="0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1B4AE72D-BB9A-0384-B170-6D253F79261B}"/>
              </a:ext>
            </a:extLst>
          </p:cNvPr>
          <p:cNvSpPr/>
          <p:nvPr/>
        </p:nvSpPr>
        <p:spPr>
          <a:xfrm rot="5400000">
            <a:off x="8269674" y="2912827"/>
            <a:ext cx="2438555" cy="3725335"/>
          </a:xfrm>
          <a:prstGeom prst="round2SameRect">
            <a:avLst>
              <a:gd name="adj1" fmla="val 6230"/>
              <a:gd name="adj2" fmla="val 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3594FE-C425-E76C-2D79-69D8C1A1D0D8}"/>
              </a:ext>
            </a:extLst>
          </p:cNvPr>
          <p:cNvSpPr txBox="1"/>
          <p:nvPr/>
        </p:nvSpPr>
        <p:spPr>
          <a:xfrm>
            <a:off x="7998096" y="5321995"/>
            <a:ext cx="2795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 © COPYRIGHT : AS STUDIOS</a:t>
            </a:r>
            <a:endParaRPr lang="en-US" sz="4000" b="1" dirty="0">
              <a:latin typeface="Aharoni" panose="02010803020104030203" pitchFamily="2" charset="-79"/>
              <a:ea typeface="GFF Devanagari W05 Medium" pitchFamily="2" charset="0"/>
              <a:cs typeface="Aharoni" panose="02010803020104030203" pitchFamily="2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A1030E-5BB4-E67A-C98B-F02BE55A6BFB}"/>
              </a:ext>
            </a:extLst>
          </p:cNvPr>
          <p:cNvSpPr txBox="1"/>
          <p:nvPr/>
        </p:nvSpPr>
        <p:spPr>
          <a:xfrm>
            <a:off x="8045231" y="5557830"/>
            <a:ext cx="27955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kshar Unicode" panose="00000400000000000000" pitchFamily="2" charset="0"/>
                <a:ea typeface="GFF Devanagari W05 Medium" pitchFamily="2" charset="0"/>
                <a:cs typeface="Akshar Unicode" panose="00000400000000000000" pitchFamily="2" charset="0"/>
              </a:rPr>
              <a:t>NO PLAGARISM HAS BEEN PROMOTED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3A359B-FFEE-0977-6A01-592A93B4F998}"/>
              </a:ext>
            </a:extLst>
          </p:cNvPr>
          <p:cNvSpPr txBox="1"/>
          <p:nvPr/>
        </p:nvSpPr>
        <p:spPr>
          <a:xfrm>
            <a:off x="6441737" y="3707034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ATTRIBUTION :</a:t>
            </a:r>
          </a:p>
          <a:p>
            <a:pPr algn="ctr"/>
            <a:r>
              <a:rPr lang="en-US" dirty="0"/>
              <a:t>ICONS USED FROM FLATICON.COM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3DCC524-EE60-6FA6-0AB9-76D905DDA7E3}"/>
              </a:ext>
            </a:extLst>
          </p:cNvPr>
          <p:cNvCxnSpPr/>
          <p:nvPr/>
        </p:nvCxnSpPr>
        <p:spPr>
          <a:xfrm flipH="1">
            <a:off x="7626284" y="4487155"/>
            <a:ext cx="3956116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7EC81019-948B-A5A7-4FA0-B1C554D3E5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5799" y="2216139"/>
            <a:ext cx="4978543" cy="7450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1FF102-F239-C732-42B9-F9DB9D07FB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8560" y="191060"/>
            <a:ext cx="1950720" cy="8360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1811219-48B6-DDC2-AFEE-D1CE6AE83B0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40055"/>
          <a:stretch>
            <a:fillRect/>
          </a:stretch>
        </p:blipFill>
        <p:spPr>
          <a:xfrm>
            <a:off x="8249764" y="4496210"/>
            <a:ext cx="2386529" cy="8047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1BBD18-C149-7C48-644C-BC45AB624CA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62053"/>
          <a:stretch>
            <a:fillRect/>
          </a:stretch>
        </p:blipFill>
        <p:spPr>
          <a:xfrm>
            <a:off x="167660" y="169698"/>
            <a:ext cx="2607597" cy="5565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2344</TotalTime>
  <Words>495</Words>
  <Application>Microsoft Office PowerPoint</Application>
  <PresentationFormat>Widescreen</PresentationFormat>
  <Paragraphs>123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Calibri</vt:lpstr>
      <vt:lpstr>Segoe UI Black</vt:lpstr>
      <vt:lpstr>Akshar Unicode</vt:lpstr>
      <vt:lpstr>GFF Devanagari W05 Medium</vt:lpstr>
      <vt:lpstr>Franklin Gothic Demi</vt:lpstr>
      <vt:lpstr>Oswald</vt:lpstr>
      <vt:lpstr>Franklin Gothic Demi Cond</vt:lpstr>
      <vt:lpstr>GFF Latin W05 Bold</vt:lpstr>
      <vt:lpstr>Berlin Sans FB Demi</vt:lpstr>
      <vt:lpstr>Times New Roman</vt:lpstr>
      <vt:lpstr>Arial</vt:lpstr>
      <vt:lpstr>Aharoni</vt:lpstr>
      <vt:lpstr>Office Theme</vt:lpstr>
      <vt:lpstr>HACK THE BEGINNING 2026</vt:lpstr>
      <vt:lpstr> INTRODUCING KairoDocs</vt:lpstr>
      <vt:lpstr>TECHNICAL APPROACH</vt:lpstr>
      <vt:lpstr>DASHBOARD DETAILS</vt:lpstr>
      <vt:lpstr>MARKETING SCOPE</vt:lpstr>
      <vt:lpstr>FEASIBILITY AND VIABILITY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2025</dc:title>
  <dc:creator>Crowdfunder</dc:creator>
  <cp:lastModifiedBy>Ab Rawat</cp:lastModifiedBy>
  <cp:revision>17</cp:revision>
  <dcterms:created xsi:type="dcterms:W3CDTF">2013-12-12T18:46:00Z</dcterms:created>
  <dcterms:modified xsi:type="dcterms:W3CDTF">2026-04-09T07:49:55Z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F549C18D903C4E5EBEC3E7EB818338FD_12</vt:lpwstr>
  </property>
  <property fmtid="{D5CDD505-2E9C-101B-9397-08002B2CF9AE}" pid="3" name="KSOProductBuildVer">
    <vt:lpwstr>1033-12.2.0.18165</vt:lpwstr>
  </property>
</Properties>
</file>